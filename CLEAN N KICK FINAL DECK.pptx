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85" r:id="rId4"/>
    <p:sldId id="260" r:id="rId5"/>
    <p:sldId id="262" r:id="rId6"/>
    <p:sldId id="275" r:id="rId7"/>
    <p:sldId id="263" r:id="rId8"/>
    <p:sldId id="269" r:id="rId9"/>
    <p:sldId id="283" r:id="rId10"/>
    <p:sldId id="284" r:id="rId11"/>
  </p:sldIdLst>
  <p:sldSz cx="12192000" cy="6858000"/>
  <p:notesSz cx="6858000" cy="12192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1D39"/>
    <a:srgbClr val="C1EDF4"/>
    <a:srgbClr val="8FDF75"/>
    <a:srgbClr val="000080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13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566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905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3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0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607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E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jpe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jpe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13" Type="http://schemas.openxmlformats.org/officeDocument/2006/relationships/image" Target="../media/image41.png"/><Relationship Id="rId18" Type="http://schemas.openxmlformats.org/officeDocument/2006/relationships/image" Target="../media/image46.svg"/><Relationship Id="rId3" Type="http://schemas.openxmlformats.org/officeDocument/2006/relationships/image" Target="../media/image31.png"/><Relationship Id="rId21" Type="http://schemas.openxmlformats.org/officeDocument/2006/relationships/image" Target="../media/image12.png"/><Relationship Id="rId7" Type="http://schemas.openxmlformats.org/officeDocument/2006/relationships/image" Target="../media/image35.png"/><Relationship Id="rId12" Type="http://schemas.openxmlformats.org/officeDocument/2006/relationships/image" Target="../media/image40.svg"/><Relationship Id="rId17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4.svg"/><Relationship Id="rId20" Type="http://schemas.openxmlformats.org/officeDocument/2006/relationships/image" Target="../media/image4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sv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svg"/><Relationship Id="rId19" Type="http://schemas.openxmlformats.org/officeDocument/2006/relationships/image" Target="../media/image47.png"/><Relationship Id="rId4" Type="http://schemas.openxmlformats.org/officeDocument/2006/relationships/image" Target="../media/image32.svg"/><Relationship Id="rId9" Type="http://schemas.openxmlformats.org/officeDocument/2006/relationships/image" Target="../media/image37.png"/><Relationship Id="rId14" Type="http://schemas.openxmlformats.org/officeDocument/2006/relationships/image" Target="../media/image4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12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10" Type="http://schemas.openxmlformats.org/officeDocument/2006/relationships/image" Target="../media/image57.jpeg"/><Relationship Id="rId4" Type="http://schemas.openxmlformats.org/officeDocument/2006/relationships/image" Target="../media/image30.png"/><Relationship Id="rId9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8.jpe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65.svg"/><Relationship Id="rId5" Type="http://schemas.openxmlformats.org/officeDocument/2006/relationships/image" Target="../media/image60.svg"/><Relationship Id="rId10" Type="http://schemas.openxmlformats.org/officeDocument/2006/relationships/image" Target="../media/image64.png"/><Relationship Id="rId4" Type="http://schemas.openxmlformats.org/officeDocument/2006/relationships/image" Target="../media/image59.png"/><Relationship Id="rId9" Type="http://schemas.openxmlformats.org/officeDocument/2006/relationships/image" Target="../media/image6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D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8132034" y="0"/>
            <a:ext cx="4059966" cy="6858000"/>
          </a:xfrm>
          <a:prstGeom prst="rect">
            <a:avLst/>
          </a:prstGeom>
          <a:solidFill>
            <a:srgbClr val="C1EDF4"/>
          </a:solidFill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text, electronics, screenshot&#10;&#10;Description automatically generated">
            <a:extLst>
              <a:ext uri="{FF2B5EF4-FFF2-40B4-BE49-F238E27FC236}">
                <a16:creationId xmlns:a16="http://schemas.microsoft.com/office/drawing/2014/main" id="{3C3F431E-79DA-3800-3AEE-3EDEE70C3E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659" y="523246"/>
            <a:ext cx="5816887" cy="5811497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475990" y="796259"/>
            <a:ext cx="7029710" cy="498558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7788"/>
              </a:lnSpc>
              <a:spcBef>
                <a:spcPts val="269"/>
              </a:spcBef>
              <a:buNone/>
            </a:pPr>
            <a:r>
              <a:rPr lang="en-US" sz="7313" b="1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CHANGE THE WAY</a:t>
            </a:r>
          </a:p>
          <a:p>
            <a:pPr algn="l">
              <a:lnSpc>
                <a:spcPts val="7788"/>
              </a:lnSpc>
              <a:spcBef>
                <a:spcPts val="269"/>
              </a:spcBef>
              <a:buNone/>
            </a:pPr>
            <a:r>
              <a:rPr lang="en-US" sz="7313" b="1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YORKERS CLEAN THEIR SHOES</a:t>
            </a:r>
            <a:endParaRPr lang="en-US" dirty="0"/>
          </a:p>
        </p:txBody>
      </p:sp>
      <p:sp>
        <p:nvSpPr>
          <p:cNvPr id="4" name="Object 3"/>
          <p:cNvSpPr/>
          <p:nvPr/>
        </p:nvSpPr>
        <p:spPr>
          <a:xfrm>
            <a:off x="476034" y="404107"/>
            <a:ext cx="7897733" cy="2965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336"/>
              </a:lnSpc>
              <a:buNone/>
            </a:pPr>
            <a:r>
              <a:rPr lang="en-US" sz="1900" b="1" kern="0" spc="18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N KICK</a:t>
            </a:r>
            <a:endParaRPr lang="en-US" sz="1900" b="1" dirty="0"/>
          </a:p>
        </p:txBody>
      </p:sp>
      <p:sp>
        <p:nvSpPr>
          <p:cNvPr id="5" name="Object 4"/>
          <p:cNvSpPr/>
          <p:nvPr/>
        </p:nvSpPr>
        <p:spPr>
          <a:xfrm>
            <a:off x="476034" y="732894"/>
            <a:ext cx="1794915" cy="0"/>
          </a:xfrm>
          <a:prstGeom prst="line">
            <a:avLst/>
          </a:prstGeom>
          <a:noFill/>
          <a:ln w="12700">
            <a:solidFill>
              <a:srgbClr val="FFFFFF">
                <a:alpha val="20000"/>
              </a:srgbClr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" name="Object 7"/>
          <p:cNvSpPr/>
          <p:nvPr/>
        </p:nvSpPr>
        <p:spPr>
          <a:xfrm>
            <a:off x="11865183" y="6493335"/>
            <a:ext cx="133317" cy="24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ts val="1917"/>
              </a:lnSpc>
              <a:buNone/>
            </a:pPr>
            <a:r>
              <a:rPr lang="en-US" sz="1350" kern="0" spc="14" dirty="0"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6C302A-FC6C-E90E-8521-7BE57F3F190F}"/>
              </a:ext>
            </a:extLst>
          </p:cNvPr>
          <p:cNvSpPr txBox="1"/>
          <p:nvPr/>
        </p:nvSpPr>
        <p:spPr>
          <a:xfrm flipH="1">
            <a:off x="398684" y="5762163"/>
            <a:ext cx="45045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C1EDF4"/>
                </a:solidFill>
              </a:rPr>
              <a:t>CONTACT 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C80F8-31C7-2312-2A71-7DF6B669A679}"/>
              </a:ext>
            </a:extLst>
          </p:cNvPr>
          <p:cNvSpPr txBox="1"/>
          <p:nvPr/>
        </p:nvSpPr>
        <p:spPr>
          <a:xfrm flipH="1">
            <a:off x="398684" y="6005506"/>
            <a:ext cx="68323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Eric Salim Marlie </a:t>
            </a:r>
            <a:br>
              <a:rPr lang="en-US" sz="1600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600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eriicsalim@yahoo.com | 917-684-2578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4"/>
          <p:cNvSpPr/>
          <p:nvPr/>
        </p:nvSpPr>
        <p:spPr>
          <a:xfrm>
            <a:off x="11873176" y="6461061"/>
            <a:ext cx="128372" cy="24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ts val="1917"/>
              </a:lnSpc>
              <a:buNone/>
            </a:pPr>
            <a:r>
              <a:rPr lang="en-US" sz="1350" kern="0" spc="14" dirty="0">
                <a:solidFill>
                  <a:srgbClr val="000000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dirty="0"/>
          </a:p>
        </p:txBody>
      </p:sp>
      <p:sp>
        <p:nvSpPr>
          <p:cNvPr id="16" name="Object 2">
            <a:extLst>
              <a:ext uri="{FF2B5EF4-FFF2-40B4-BE49-F238E27FC236}">
                <a16:creationId xmlns:a16="http://schemas.microsoft.com/office/drawing/2014/main" id="{CF689369-7F1C-1E83-847B-5E2462E48AC5}"/>
              </a:ext>
            </a:extLst>
          </p:cNvPr>
          <p:cNvSpPr/>
          <p:nvPr/>
        </p:nvSpPr>
        <p:spPr>
          <a:xfrm>
            <a:off x="729432" y="1186405"/>
            <a:ext cx="2828218" cy="1622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12780"/>
              </a:lnSpc>
              <a:buNone/>
            </a:pPr>
            <a:r>
              <a:rPr lang="en-US" sz="11250" b="1" kern="0" spc="-337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55%</a:t>
            </a:r>
            <a:endParaRPr lang="en-US" dirty="0">
              <a:solidFill>
                <a:srgbClr val="041D39"/>
              </a:solidFill>
            </a:endParaRPr>
          </a:p>
        </p:txBody>
      </p:sp>
      <p:pic>
        <p:nvPicPr>
          <p:cNvPr id="17" name="Object 1" descr="preencoded.png">
            <a:extLst>
              <a:ext uri="{FF2B5EF4-FFF2-40B4-BE49-F238E27FC236}">
                <a16:creationId xmlns:a16="http://schemas.microsoft.com/office/drawing/2014/main" id="{419BE0B8-96AC-D2A5-DCF0-FE3975DF9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344" y="1999750"/>
            <a:ext cx="7313371" cy="1028443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8C712AA7-36FB-0532-9A29-88CC225182A6}"/>
              </a:ext>
            </a:extLst>
          </p:cNvPr>
          <p:cNvSpPr/>
          <p:nvPr/>
        </p:nvSpPr>
        <p:spPr>
          <a:xfrm>
            <a:off x="4067564" y="3071386"/>
            <a:ext cx="8037616" cy="3785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982"/>
              </a:lnSpc>
              <a:buNone/>
            </a:pPr>
            <a:r>
              <a:rPr lang="en-US" sz="2100" b="1" kern="0" spc="21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CLEAN SHOES IS IMPORTANT</a:t>
            </a:r>
            <a:endParaRPr lang="en-US" b="1" dirty="0">
              <a:solidFill>
                <a:srgbClr val="041D39"/>
              </a:solidFill>
            </a:endParaRPr>
          </a:p>
        </p:txBody>
      </p:sp>
      <p:sp>
        <p:nvSpPr>
          <p:cNvPr id="19" name="Object 5">
            <a:extLst>
              <a:ext uri="{FF2B5EF4-FFF2-40B4-BE49-F238E27FC236}">
                <a16:creationId xmlns:a16="http://schemas.microsoft.com/office/drawing/2014/main" id="{E8B4060E-6161-9A5F-83FB-70FF957272AC}"/>
              </a:ext>
            </a:extLst>
          </p:cNvPr>
          <p:cNvSpPr/>
          <p:nvPr/>
        </p:nvSpPr>
        <p:spPr>
          <a:xfrm>
            <a:off x="755469" y="3888105"/>
            <a:ext cx="2828218" cy="16226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r">
              <a:lnSpc>
                <a:spcPts val="12780"/>
              </a:lnSpc>
              <a:buNone/>
            </a:pPr>
            <a:r>
              <a:rPr lang="en-US" sz="11250" b="1" kern="0" spc="-337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72%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" name="Object 4" descr="preencoded.png">
            <a:extLst>
              <a:ext uri="{FF2B5EF4-FFF2-40B4-BE49-F238E27FC236}">
                <a16:creationId xmlns:a16="http://schemas.microsoft.com/office/drawing/2014/main" id="{2C01DA60-77EC-D234-C321-8F1094B1CB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9344" y="4170908"/>
            <a:ext cx="7313371" cy="1018920"/>
          </a:xfrm>
          <a:prstGeom prst="rect">
            <a:avLst/>
          </a:prstGeom>
        </p:spPr>
      </p:pic>
      <p:sp>
        <p:nvSpPr>
          <p:cNvPr id="21" name="Object 6">
            <a:extLst>
              <a:ext uri="{FF2B5EF4-FFF2-40B4-BE49-F238E27FC236}">
                <a16:creationId xmlns:a16="http://schemas.microsoft.com/office/drawing/2014/main" id="{286E74DD-669A-3A16-94BC-87FFEA070655}"/>
              </a:ext>
            </a:extLst>
          </p:cNvPr>
          <p:cNvSpPr/>
          <p:nvPr/>
        </p:nvSpPr>
        <p:spPr>
          <a:xfrm>
            <a:off x="4067564" y="5189828"/>
            <a:ext cx="8037616" cy="3785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982"/>
              </a:lnSpc>
              <a:buNone/>
            </a:pPr>
            <a:r>
              <a:rPr lang="en-US" sz="2100" b="1" kern="0" spc="21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OCCASIONALLY, RARELY, OR NEVER CLEAN THEIR SHOES. 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5">
            <a:extLst>
              <a:ext uri="{FF2B5EF4-FFF2-40B4-BE49-F238E27FC236}">
                <a16:creationId xmlns:a16="http://schemas.microsoft.com/office/drawing/2014/main" id="{C90F43F8-1526-5380-1C08-BC8833685095}"/>
              </a:ext>
            </a:extLst>
          </p:cNvPr>
          <p:cNvSpPr/>
          <p:nvPr/>
        </p:nvSpPr>
        <p:spPr>
          <a:xfrm>
            <a:off x="976068" y="6084596"/>
            <a:ext cx="4460566" cy="29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300"/>
              </a:lnSpc>
              <a:buNone/>
            </a:pPr>
            <a:r>
              <a:rPr lang="en-US" sz="1500" kern="0" spc="18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*100 BMCC Survey respondents, April 2023</a:t>
            </a:r>
            <a:endParaRPr lang="en-US" sz="1500" dirty="0">
              <a:solidFill>
                <a:srgbClr val="041D39"/>
              </a:solidFill>
            </a:endParaRPr>
          </a:p>
        </p:txBody>
      </p:sp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23460" y="1568888"/>
            <a:ext cx="2561584" cy="2561584"/>
          </a:xfrm>
          <a:prstGeom prst="rect">
            <a:avLst/>
          </a:prstGeom>
        </p:spPr>
      </p:pic>
      <p:pic>
        <p:nvPicPr>
          <p:cNvPr id="12" name="Object 1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75701" y="1568318"/>
            <a:ext cx="1409348" cy="2199725"/>
          </a:xfrm>
          <a:prstGeom prst="rect">
            <a:avLst/>
          </a:prstGeom>
        </p:spPr>
      </p:pic>
      <p:sp>
        <p:nvSpPr>
          <p:cNvPr id="13" name="Object 12"/>
          <p:cNvSpPr/>
          <p:nvPr/>
        </p:nvSpPr>
        <p:spPr>
          <a:xfrm>
            <a:off x="8887460" y="2582733"/>
            <a:ext cx="2032127" cy="540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4260"/>
              </a:lnSpc>
              <a:buNone/>
            </a:pPr>
            <a:r>
              <a:rPr lang="en-US" sz="4500" b="1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37%</a:t>
            </a:r>
            <a:endParaRPr lang="en-US" sz="4500" b="1" dirty="0">
              <a:solidFill>
                <a:srgbClr val="041D39"/>
              </a:solidFill>
            </a:endParaRPr>
          </a:p>
        </p:txBody>
      </p:sp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4422" y="1568888"/>
            <a:ext cx="2561584" cy="2561584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66647" y="1568318"/>
            <a:ext cx="1409348" cy="1628368"/>
          </a:xfrm>
          <a:prstGeom prst="rect">
            <a:avLst/>
          </a:prstGeom>
        </p:spPr>
      </p:pic>
      <p:sp>
        <p:nvSpPr>
          <p:cNvPr id="9" name="Object 8"/>
          <p:cNvSpPr/>
          <p:nvPr/>
        </p:nvSpPr>
        <p:spPr>
          <a:xfrm>
            <a:off x="5078413" y="2582733"/>
            <a:ext cx="2032127" cy="540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4260"/>
              </a:lnSpc>
              <a:buNone/>
            </a:pPr>
            <a:r>
              <a:rPr lang="en-US" sz="4500" b="1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28%</a:t>
            </a:r>
            <a:endParaRPr lang="en-US" sz="4500" dirty="0">
              <a:solidFill>
                <a:srgbClr val="041D39"/>
              </a:solidFill>
            </a:endParaRPr>
          </a:p>
        </p:txBody>
      </p:sp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368" y="1568888"/>
            <a:ext cx="2561584" cy="2561584"/>
          </a:xfrm>
          <a:prstGeom prst="rect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1269365" y="2582733"/>
            <a:ext cx="2032127" cy="540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4260"/>
              </a:lnSpc>
              <a:buNone/>
            </a:pPr>
            <a:r>
              <a:rPr lang="en-US" sz="4500" b="1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9%</a:t>
            </a:r>
            <a:endParaRPr lang="en-US" sz="4500" b="1" dirty="0">
              <a:solidFill>
                <a:srgbClr val="041D39"/>
              </a:solidFill>
            </a:endParaRPr>
          </a:p>
        </p:txBody>
      </p:sp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57593" y="1568318"/>
            <a:ext cx="876081" cy="438040"/>
          </a:xfrm>
          <a:prstGeom prst="rect">
            <a:avLst/>
          </a:prstGeom>
        </p:spPr>
      </p:pic>
      <p:sp>
        <p:nvSpPr>
          <p:cNvPr id="6" name="Object 5"/>
          <p:cNvSpPr/>
          <p:nvPr/>
        </p:nvSpPr>
        <p:spPr>
          <a:xfrm>
            <a:off x="976068" y="4275915"/>
            <a:ext cx="2618720" cy="29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  <a:buNone/>
            </a:pPr>
            <a:r>
              <a:rPr lang="en-US" sz="1800" b="1" kern="0" spc="18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EXPENSIVE</a:t>
            </a:r>
            <a:endParaRPr lang="en-US" b="1" dirty="0">
              <a:solidFill>
                <a:srgbClr val="041D39"/>
              </a:solidFill>
            </a:endParaRPr>
          </a:p>
        </p:txBody>
      </p:sp>
      <p:sp>
        <p:nvSpPr>
          <p:cNvPr id="10" name="Object 9"/>
          <p:cNvSpPr/>
          <p:nvPr/>
        </p:nvSpPr>
        <p:spPr>
          <a:xfrm>
            <a:off x="4600834" y="4205513"/>
            <a:ext cx="2987284" cy="87608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  <a:buNone/>
            </a:pPr>
            <a:r>
              <a:rPr lang="en-US" sz="1800" b="1" kern="0" spc="18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KNOW HOW TO PROPERLY CLEAN THEM</a:t>
            </a:r>
            <a:endParaRPr lang="en-US" b="1" dirty="0">
              <a:solidFill>
                <a:srgbClr val="041D39"/>
              </a:solidFill>
            </a:endParaRPr>
          </a:p>
        </p:txBody>
      </p:sp>
      <p:sp>
        <p:nvSpPr>
          <p:cNvPr id="14" name="Object 13"/>
          <p:cNvSpPr/>
          <p:nvPr/>
        </p:nvSpPr>
        <p:spPr>
          <a:xfrm>
            <a:off x="8594163" y="4275915"/>
            <a:ext cx="2618720" cy="29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  <a:buNone/>
            </a:pPr>
            <a:r>
              <a:rPr lang="en-US" sz="1800" b="1" kern="0" spc="18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DON'T HAVE TIME</a:t>
            </a:r>
            <a:endParaRPr lang="en-US" b="1" dirty="0">
              <a:solidFill>
                <a:srgbClr val="041D39"/>
              </a:solidFill>
            </a:endParaRPr>
          </a:p>
        </p:txBody>
      </p:sp>
      <p:sp>
        <p:nvSpPr>
          <p:cNvPr id="15" name="Object 14"/>
          <p:cNvSpPr/>
          <p:nvPr/>
        </p:nvSpPr>
        <p:spPr>
          <a:xfrm>
            <a:off x="11865183" y="6493335"/>
            <a:ext cx="133317" cy="24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ts val="1917"/>
              </a:lnSpc>
              <a:buNone/>
            </a:pPr>
            <a:r>
              <a:rPr lang="en-US" sz="1350" kern="0" spc="14" dirty="0">
                <a:solidFill>
                  <a:srgbClr val="000000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8CF47B-4260-CE16-C966-5EADECF6C017}"/>
              </a:ext>
            </a:extLst>
          </p:cNvPr>
          <p:cNvSpPr txBox="1"/>
          <p:nvPr/>
        </p:nvSpPr>
        <p:spPr>
          <a:xfrm flipH="1">
            <a:off x="2551176" y="3432"/>
            <a:ext cx="7086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dirty="0">
                <a:ln>
                  <a:solidFill>
                    <a:srgbClr val="C1EDF4"/>
                  </a:solidFill>
                </a:ln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PROBLEM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4C7AD1D3-1A9B-B4B7-2F36-59C07E4EDE08}"/>
              </a:ext>
            </a:extLst>
          </p:cNvPr>
          <p:cNvSpPr/>
          <p:nvPr/>
        </p:nvSpPr>
        <p:spPr>
          <a:xfrm>
            <a:off x="1239901" y="1121182"/>
            <a:ext cx="9709150" cy="29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  <a:buNone/>
            </a:pPr>
            <a:r>
              <a:rPr lang="en-US" dirty="0">
                <a:solidFill>
                  <a:srgbClr val="041D39"/>
                </a:solidFill>
              </a:rPr>
              <a:t>Sneaker cleaning is costly, inconvenient, and time consuming </a:t>
            </a:r>
          </a:p>
        </p:txBody>
      </p:sp>
      <p:pic>
        <p:nvPicPr>
          <p:cNvPr id="17" name="Object 1" descr="preencoded.png">
            <a:extLst>
              <a:ext uri="{FF2B5EF4-FFF2-40B4-BE49-F238E27FC236}">
                <a16:creationId xmlns:a16="http://schemas.microsoft.com/office/drawing/2014/main" id="{5CB2A5DB-BEC9-539E-7AE6-9AD4D3F519D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615748" y="-288952"/>
            <a:ext cx="1531257" cy="153125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99F75C5-29B9-9916-5752-9F7082F16F04}"/>
              </a:ext>
            </a:extLst>
          </p:cNvPr>
          <p:cNvCxnSpPr/>
          <p:nvPr/>
        </p:nvCxnSpPr>
        <p:spPr>
          <a:xfrm>
            <a:off x="976068" y="6063352"/>
            <a:ext cx="1928332" cy="0"/>
          </a:xfrm>
          <a:prstGeom prst="line">
            <a:avLst/>
          </a:prstGeom>
          <a:ln w="28575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bject 2">
            <a:extLst>
              <a:ext uri="{FF2B5EF4-FFF2-40B4-BE49-F238E27FC236}">
                <a16:creationId xmlns:a16="http://schemas.microsoft.com/office/drawing/2014/main" id="{3D8D076B-0C47-5F78-D78E-BDB3939499BB}"/>
              </a:ext>
            </a:extLst>
          </p:cNvPr>
          <p:cNvSpPr/>
          <p:nvPr/>
        </p:nvSpPr>
        <p:spPr>
          <a:xfrm>
            <a:off x="976068" y="4250185"/>
            <a:ext cx="945352" cy="10555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2780"/>
              </a:lnSpc>
              <a:buNone/>
            </a:pPr>
            <a:r>
              <a:rPr lang="en-US" sz="3500" b="1" kern="0" spc="-337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55%</a:t>
            </a:r>
            <a:endParaRPr lang="en-US" sz="3500" dirty="0">
              <a:solidFill>
                <a:srgbClr val="041D39"/>
              </a:solidFill>
            </a:endParaRPr>
          </a:p>
        </p:txBody>
      </p:sp>
      <p:sp>
        <p:nvSpPr>
          <p:cNvPr id="19" name="Object 3">
            <a:extLst>
              <a:ext uri="{FF2B5EF4-FFF2-40B4-BE49-F238E27FC236}">
                <a16:creationId xmlns:a16="http://schemas.microsoft.com/office/drawing/2014/main" id="{87B1B403-06F6-DB8E-C74C-C35741141D78}"/>
              </a:ext>
            </a:extLst>
          </p:cNvPr>
          <p:cNvSpPr/>
          <p:nvPr/>
        </p:nvSpPr>
        <p:spPr>
          <a:xfrm>
            <a:off x="1823318" y="5194488"/>
            <a:ext cx="7814458" cy="396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en-US" sz="2000" b="1" kern="0" spc="21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surveyed students consider CLEAN SHOES IS IMPORTANT</a:t>
            </a:r>
            <a:endParaRPr lang="en-US" sz="2000" b="1" dirty="0">
              <a:solidFill>
                <a:srgbClr val="041D39"/>
              </a:solidFill>
            </a:endParaRPr>
          </a:p>
        </p:txBody>
      </p:sp>
      <p:sp>
        <p:nvSpPr>
          <p:cNvPr id="22" name="Object 2">
            <a:extLst>
              <a:ext uri="{FF2B5EF4-FFF2-40B4-BE49-F238E27FC236}">
                <a16:creationId xmlns:a16="http://schemas.microsoft.com/office/drawing/2014/main" id="{F45F9723-C881-41D3-DE0F-21D17F6A231A}"/>
              </a:ext>
            </a:extLst>
          </p:cNvPr>
          <p:cNvSpPr/>
          <p:nvPr/>
        </p:nvSpPr>
        <p:spPr>
          <a:xfrm>
            <a:off x="981665" y="4681226"/>
            <a:ext cx="945352" cy="10555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12780"/>
              </a:lnSpc>
              <a:buNone/>
            </a:pPr>
            <a:r>
              <a:rPr lang="en-US" sz="3500" b="1" kern="0" spc="-337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72%</a:t>
            </a:r>
            <a:endParaRPr lang="en-US" sz="3500" dirty="0">
              <a:solidFill>
                <a:srgbClr val="FF0000"/>
              </a:solidFill>
            </a:endParaRPr>
          </a:p>
        </p:txBody>
      </p:sp>
      <p:sp>
        <p:nvSpPr>
          <p:cNvPr id="23" name="Object 3">
            <a:extLst>
              <a:ext uri="{FF2B5EF4-FFF2-40B4-BE49-F238E27FC236}">
                <a16:creationId xmlns:a16="http://schemas.microsoft.com/office/drawing/2014/main" id="{A743D97A-3EB1-771C-D313-704E5C995B55}"/>
              </a:ext>
            </a:extLst>
          </p:cNvPr>
          <p:cNvSpPr/>
          <p:nvPr/>
        </p:nvSpPr>
        <p:spPr>
          <a:xfrm>
            <a:off x="1823317" y="5627952"/>
            <a:ext cx="8792431" cy="3966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sz="2000" b="1" kern="0" spc="21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them </a:t>
            </a:r>
            <a:r>
              <a:rPr lang="en-US" sz="2000" b="1" kern="0" spc="21" dirty="0">
                <a:solidFill>
                  <a:srgbClr val="FF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OCCASIONALLY, RARELY, OR NEVER CLEAN THEIR SHOES. </a:t>
            </a:r>
            <a:endParaRPr lang="en-US" sz="2000" b="1" dirty="0">
              <a:solidFill>
                <a:srgbClr val="FF0000"/>
              </a:solidFill>
            </a:endParaRPr>
          </a:p>
          <a:p>
            <a:pPr algn="l">
              <a:buNone/>
            </a:pPr>
            <a:r>
              <a:rPr lang="en-US" sz="2000" b="1" kern="0" spc="21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2000" b="1" dirty="0">
              <a:solidFill>
                <a:srgbClr val="041D39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F2FD295-B01E-6809-8F35-C7620D343972}"/>
              </a:ext>
            </a:extLst>
          </p:cNvPr>
          <p:cNvCxnSpPr/>
          <p:nvPr/>
        </p:nvCxnSpPr>
        <p:spPr>
          <a:xfrm>
            <a:off x="957254" y="5018466"/>
            <a:ext cx="1928332" cy="0"/>
          </a:xfrm>
          <a:prstGeom prst="line">
            <a:avLst/>
          </a:prstGeom>
          <a:ln w="28575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6206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13" grpId="0"/>
      <p:bldP spid="5" grpId="0"/>
      <p:bldP spid="6" grpId="0"/>
      <p:bldP spid="10" grpId="0"/>
      <p:bldP spid="14" grpId="0"/>
      <p:bldP spid="2" grpId="0"/>
      <p:bldP spid="16" grpId="0"/>
      <p:bldP spid="19" grpId="0"/>
      <p:bldP spid="22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3699BE6D-7DFE-C6E6-F871-D36E033E0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962" y="2891908"/>
            <a:ext cx="2643592" cy="2643592"/>
          </a:xfrm>
          <a:prstGeom prst="rect">
            <a:avLst/>
          </a:prstGeom>
        </p:spPr>
      </p:pic>
      <p:sp>
        <p:nvSpPr>
          <p:cNvPr id="3" name="Object 14">
            <a:extLst>
              <a:ext uri="{FF2B5EF4-FFF2-40B4-BE49-F238E27FC236}">
                <a16:creationId xmlns:a16="http://schemas.microsoft.com/office/drawing/2014/main" id="{EA2A3175-4EA5-DB74-6E0D-4DC5FB04A2EE}"/>
              </a:ext>
            </a:extLst>
          </p:cNvPr>
          <p:cNvSpPr/>
          <p:nvPr/>
        </p:nvSpPr>
        <p:spPr>
          <a:xfrm>
            <a:off x="11865183" y="6493335"/>
            <a:ext cx="133317" cy="24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ts val="1917"/>
              </a:lnSpc>
              <a:buNone/>
            </a:pPr>
            <a:r>
              <a:rPr lang="en-US" sz="1350" kern="0" spc="14" dirty="0">
                <a:solidFill>
                  <a:srgbClr val="000000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dirty="0"/>
          </a:p>
        </p:txBody>
      </p:sp>
      <p:pic>
        <p:nvPicPr>
          <p:cNvPr id="4" name="Object 1" descr="preencoded.png">
            <a:extLst>
              <a:ext uri="{FF2B5EF4-FFF2-40B4-BE49-F238E27FC236}">
                <a16:creationId xmlns:a16="http://schemas.microsoft.com/office/drawing/2014/main" id="{CCA8897B-CB4B-27ED-DD4B-DB74CB7B74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5609771"/>
            <a:ext cx="1531257" cy="15312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6224A2-985E-C66C-6FD1-C1891EF2138C}"/>
              </a:ext>
            </a:extLst>
          </p:cNvPr>
          <p:cNvSpPr/>
          <p:nvPr/>
        </p:nvSpPr>
        <p:spPr>
          <a:xfrm>
            <a:off x="0" y="0"/>
            <a:ext cx="12192000" cy="2844800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4D508-B3AE-AB60-8E72-16BEC202E7A7}"/>
              </a:ext>
            </a:extLst>
          </p:cNvPr>
          <p:cNvSpPr txBox="1"/>
          <p:nvPr/>
        </p:nvSpPr>
        <p:spPr>
          <a:xfrm>
            <a:off x="4667564" y="603503"/>
            <a:ext cx="28568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b="1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SOLUTION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615C18-7FC3-826C-6BFA-5EC1D7D575EF}"/>
              </a:ext>
            </a:extLst>
          </p:cNvPr>
          <p:cNvSpPr txBox="1"/>
          <p:nvPr/>
        </p:nvSpPr>
        <p:spPr>
          <a:xfrm>
            <a:off x="1531256" y="1278403"/>
            <a:ext cx="89462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CLEAN N KICK</a:t>
            </a:r>
            <a:r>
              <a:rPr lang="en-US" sz="2000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simplifies shoe care for busy New Yorkers with our </a:t>
            </a:r>
          </a:p>
          <a:p>
            <a:pPr algn="ctr"/>
            <a:r>
              <a:rPr lang="en-US" sz="2000" b="1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smart locker system</a:t>
            </a:r>
            <a:r>
              <a:rPr lang="en-US" sz="2000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conveniently located in places like college campuses. </a:t>
            </a:r>
          </a:p>
          <a:p>
            <a:pPr algn="ctr"/>
            <a:r>
              <a:rPr lang="en-US" sz="2000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Our innovative solution allows customers to :</a:t>
            </a:r>
          </a:p>
        </p:txBody>
      </p:sp>
      <p:pic>
        <p:nvPicPr>
          <p:cNvPr id="8" name="Picture 7" descr="A picture containing logo&#10;&#10;Description automatically generated">
            <a:extLst>
              <a:ext uri="{FF2B5EF4-FFF2-40B4-BE49-F238E27FC236}">
                <a16:creationId xmlns:a16="http://schemas.microsoft.com/office/drawing/2014/main" id="{6AC559ED-70EA-109C-890C-2ADB84C12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0287" y="2482051"/>
            <a:ext cx="3463305" cy="3463305"/>
          </a:xfrm>
          <a:prstGeom prst="rect">
            <a:avLst/>
          </a:prstGeom>
        </p:spPr>
      </p:pic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E66F070A-4B13-CBAA-CE42-AFF15F034F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5884" y="2831219"/>
            <a:ext cx="2778552" cy="277855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B8B629-9C53-5A6B-E5A8-B0F9D5FD57E5}"/>
              </a:ext>
            </a:extLst>
          </p:cNvPr>
          <p:cNvSpPr txBox="1"/>
          <p:nvPr/>
        </p:nvSpPr>
        <p:spPr>
          <a:xfrm>
            <a:off x="1179557" y="4979359"/>
            <a:ext cx="3024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Save Time and Money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B8696F-C23B-2FA0-0B65-D18C14E250ED}"/>
              </a:ext>
            </a:extLst>
          </p:cNvPr>
          <p:cNvSpPr txBox="1"/>
          <p:nvPr/>
        </p:nvSpPr>
        <p:spPr>
          <a:xfrm>
            <a:off x="4622157" y="4979359"/>
            <a:ext cx="3024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Increase Shoes Lifespan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53A4C5-EBD6-A7E2-8EC3-58E3C5334E8D}"/>
              </a:ext>
            </a:extLst>
          </p:cNvPr>
          <p:cNvSpPr txBox="1"/>
          <p:nvPr/>
        </p:nvSpPr>
        <p:spPr>
          <a:xfrm>
            <a:off x="7989737" y="4979359"/>
            <a:ext cx="30244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Maintain Shoes Hygiene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text, electronics, screenshot&#10;&#10;Description automatically generated">
            <a:extLst>
              <a:ext uri="{FF2B5EF4-FFF2-40B4-BE49-F238E27FC236}">
                <a16:creationId xmlns:a16="http://schemas.microsoft.com/office/drawing/2014/main" id="{24D79BC0-01B4-7A7C-0821-2D4F128BD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0797" y="1309201"/>
            <a:ext cx="4081214" cy="4077432"/>
          </a:xfrm>
          <a:prstGeom prst="rect">
            <a:avLst/>
          </a:prstGeom>
        </p:spPr>
      </p:pic>
      <p:pic>
        <p:nvPicPr>
          <p:cNvPr id="17" name="Picture 16" descr="A picture containing text, electronics, screenshot&#10;&#10;Description automatically generated">
            <a:extLst>
              <a:ext uri="{FF2B5EF4-FFF2-40B4-BE49-F238E27FC236}">
                <a16:creationId xmlns:a16="http://schemas.microsoft.com/office/drawing/2014/main" id="{91887A9E-1831-DB23-6CE1-B9D535475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13" y="1291353"/>
            <a:ext cx="4164660" cy="4164660"/>
          </a:xfrm>
          <a:prstGeom prst="rect">
            <a:avLst/>
          </a:prstGeom>
        </p:spPr>
      </p:pic>
      <p:pic>
        <p:nvPicPr>
          <p:cNvPr id="15" name="Picture 1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5AFEC1F4-742A-8A2F-7CAB-4CFFC5ABBB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1941" y="1391687"/>
            <a:ext cx="4029634" cy="40259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CE067DEB-6C19-F143-5293-1F5277A32298}"/>
              </a:ext>
            </a:extLst>
          </p:cNvPr>
          <p:cNvSpPr/>
          <p:nvPr/>
        </p:nvSpPr>
        <p:spPr>
          <a:xfrm>
            <a:off x="3136085" y="1360733"/>
            <a:ext cx="2680515" cy="4025900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pple business solutions: Luxer One parcel lockers | AppleInsider">
            <a:extLst>
              <a:ext uri="{FF2B5EF4-FFF2-40B4-BE49-F238E27FC236}">
                <a16:creationId xmlns:a16="http://schemas.microsoft.com/office/drawing/2014/main" id="{43CAEF4E-96C5-9510-643B-811BF0EBF0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" r="59287"/>
          <a:stretch/>
        </p:blipFill>
        <p:spPr bwMode="auto">
          <a:xfrm>
            <a:off x="3211541" y="1445936"/>
            <a:ext cx="2536116" cy="374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CA99467-75B5-9E70-083E-6C9AD9FDE65D}"/>
              </a:ext>
            </a:extLst>
          </p:cNvPr>
          <p:cNvSpPr/>
          <p:nvPr/>
        </p:nvSpPr>
        <p:spPr>
          <a:xfrm>
            <a:off x="0" y="0"/>
            <a:ext cx="12192000" cy="1190327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1"/>
          <p:cNvSpPr/>
          <p:nvPr/>
        </p:nvSpPr>
        <p:spPr>
          <a:xfrm>
            <a:off x="0" y="242553"/>
            <a:ext cx="12188952" cy="540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ln>
                  <a:solidFill>
                    <a:srgbClr val="C1EDF4"/>
                  </a:solidFill>
                </a:ln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CUSTOMER JOURNEY</a:t>
            </a:r>
            <a:endParaRPr lang="en-US" dirty="0">
              <a:ln>
                <a:solidFill>
                  <a:srgbClr val="C1EDF4"/>
                </a:solidFill>
              </a:ln>
              <a:solidFill>
                <a:srgbClr val="C1EDF4"/>
              </a:solidFill>
            </a:endParaRPr>
          </a:p>
        </p:txBody>
      </p:sp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528" y="5557039"/>
            <a:ext cx="2952012" cy="602461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36085" y="5557039"/>
            <a:ext cx="2952012" cy="602461"/>
          </a:xfrm>
          <a:prstGeom prst="rect">
            <a:avLst/>
          </a:prstGeom>
        </p:spPr>
      </p:pic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97642" y="5557039"/>
            <a:ext cx="2961534" cy="602461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59214" y="5557039"/>
            <a:ext cx="2952012" cy="602461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1865183" y="6493335"/>
            <a:ext cx="133317" cy="24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ts val="1917"/>
              </a:lnSpc>
              <a:buNone/>
            </a:pPr>
            <a:r>
              <a:rPr lang="en-US" sz="1350" kern="0" spc="14" dirty="0">
                <a:solidFill>
                  <a:srgbClr val="000000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10D283-366A-9351-E070-25A16883F09E}"/>
              </a:ext>
            </a:extLst>
          </p:cNvPr>
          <p:cNvSpPr txBox="1"/>
          <p:nvPr/>
        </p:nvSpPr>
        <p:spPr>
          <a:xfrm>
            <a:off x="475892" y="5619742"/>
            <a:ext cx="220445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 CHECKOUT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994610-DD51-4783-ECA3-37A908F7B9BA}"/>
              </a:ext>
            </a:extLst>
          </p:cNvPr>
          <p:cNvSpPr txBox="1"/>
          <p:nvPr/>
        </p:nvSpPr>
        <p:spPr>
          <a:xfrm>
            <a:off x="3427904" y="5620538"/>
            <a:ext cx="203773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 DROP OFF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9FEBA4-96B3-464B-6051-78711E38F208}"/>
              </a:ext>
            </a:extLst>
          </p:cNvPr>
          <p:cNvSpPr txBox="1"/>
          <p:nvPr/>
        </p:nvSpPr>
        <p:spPr>
          <a:xfrm>
            <a:off x="6222119" y="5607900"/>
            <a:ext cx="18742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 LEAVE IT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F6120D-B33F-B40D-1329-9535DBFDAC02}"/>
              </a:ext>
            </a:extLst>
          </p:cNvPr>
          <p:cNvSpPr txBox="1"/>
          <p:nvPr/>
        </p:nvSpPr>
        <p:spPr>
          <a:xfrm>
            <a:off x="8993198" y="5607900"/>
            <a:ext cx="212590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b="1" dirty="0">
                <a:solidFill>
                  <a:srgbClr val="C1EDF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 PICK IT UP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DA5964-C881-A782-FD61-A0E302067BC7}"/>
              </a:ext>
            </a:extLst>
          </p:cNvPr>
          <p:cNvSpPr txBox="1"/>
          <p:nvPr/>
        </p:nvSpPr>
        <p:spPr>
          <a:xfrm>
            <a:off x="3126831" y="5174571"/>
            <a:ext cx="26208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C1EDF4"/>
                </a:solidFill>
              </a:rPr>
              <a:t>Source : </a:t>
            </a:r>
            <a:r>
              <a:rPr lang="en-US" sz="800" dirty="0" err="1">
                <a:solidFill>
                  <a:srgbClr val="C1EDF4"/>
                </a:solidFill>
              </a:rPr>
              <a:t>Appleinsider</a:t>
            </a:r>
            <a:endParaRPr lang="en-US" sz="800" dirty="0">
              <a:solidFill>
                <a:srgbClr val="C1EDF4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E7E58F-08EA-C93B-9C7D-7CDBE47FFAA8}"/>
              </a:ext>
            </a:extLst>
          </p:cNvPr>
          <p:cNvSpPr txBox="1"/>
          <p:nvPr/>
        </p:nvSpPr>
        <p:spPr>
          <a:xfrm>
            <a:off x="-3047" y="673071"/>
            <a:ext cx="1219504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700" dirty="0">
                <a:solidFill>
                  <a:srgbClr val="C1EDF4"/>
                </a:solidFill>
              </a:rPr>
              <a:t>HOW IT WORKS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 descr="Icon&#10;&#10;Description automatically generated">
            <a:extLst>
              <a:ext uri="{FF2B5EF4-FFF2-40B4-BE49-F238E27FC236}">
                <a16:creationId xmlns:a16="http://schemas.microsoft.com/office/drawing/2014/main" id="{4155C436-0B4D-35DB-B9ED-F0FA1B316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96" y="4675491"/>
            <a:ext cx="1039067" cy="584475"/>
          </a:xfrm>
          <a:prstGeom prst="rect">
            <a:avLst/>
          </a:prstGeom>
        </p:spPr>
      </p:pic>
      <p:pic>
        <p:nvPicPr>
          <p:cNvPr id="1026" name="Picture 2" descr="How to Clean Your Shoes in 6 Easy Steps">
            <a:extLst>
              <a:ext uri="{FF2B5EF4-FFF2-40B4-BE49-F238E27FC236}">
                <a16:creationId xmlns:a16="http://schemas.microsoft.com/office/drawing/2014/main" id="{6430D0C4-FAD5-611F-C7AF-9CECA9B4B9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16" r="29576"/>
          <a:stretch/>
        </p:blipFill>
        <p:spPr bwMode="auto">
          <a:xfrm>
            <a:off x="0" y="0"/>
            <a:ext cx="48768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77F7DBC-0105-07DD-6A14-75BC16B2555C}"/>
              </a:ext>
            </a:extLst>
          </p:cNvPr>
          <p:cNvSpPr/>
          <p:nvPr/>
        </p:nvSpPr>
        <p:spPr>
          <a:xfrm>
            <a:off x="-1" y="2623457"/>
            <a:ext cx="4876802" cy="1611086"/>
          </a:xfrm>
          <a:prstGeom prst="rect">
            <a:avLst/>
          </a:prstGeom>
          <a:solidFill>
            <a:srgbClr val="C1EDF4"/>
          </a:solidFill>
          <a:ln>
            <a:solidFill>
              <a:srgbClr val="C1E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EE9C3D-D3C0-14DD-F915-8F436FAB5AFE}"/>
              </a:ext>
            </a:extLst>
          </p:cNvPr>
          <p:cNvSpPr/>
          <p:nvPr/>
        </p:nvSpPr>
        <p:spPr>
          <a:xfrm>
            <a:off x="6019794" y="771522"/>
            <a:ext cx="3494314" cy="540805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41D39"/>
              </a:solidFill>
            </a:endParaRPr>
          </a:p>
        </p:txBody>
      </p:sp>
      <p:sp>
        <p:nvSpPr>
          <p:cNvPr id="20" name="Object 1">
            <a:extLst>
              <a:ext uri="{FF2B5EF4-FFF2-40B4-BE49-F238E27FC236}">
                <a16:creationId xmlns:a16="http://schemas.microsoft.com/office/drawing/2014/main" id="{E74E176F-F4EB-BA3A-6F20-3ED95B19A154}"/>
              </a:ext>
            </a:extLst>
          </p:cNvPr>
          <p:cNvSpPr/>
          <p:nvPr/>
        </p:nvSpPr>
        <p:spPr>
          <a:xfrm>
            <a:off x="0" y="2818978"/>
            <a:ext cx="4963886" cy="12200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buNone/>
            </a:pPr>
            <a:r>
              <a:rPr lang="en-US" sz="3750" b="1" dirty="0">
                <a:ln>
                  <a:solidFill>
                    <a:srgbClr val="C1EDF4"/>
                  </a:solidFill>
                </a:ln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REVENUE AND BUSINESS MODEL</a:t>
            </a:r>
            <a:endParaRPr lang="en-US" dirty="0">
              <a:ln>
                <a:solidFill>
                  <a:srgbClr val="C1EDF4"/>
                </a:solidFill>
              </a:ln>
              <a:solidFill>
                <a:srgbClr val="041D39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1D21AF-C2B3-0B47-8E4C-C617755F6CDD}"/>
              </a:ext>
            </a:extLst>
          </p:cNvPr>
          <p:cNvSpPr txBox="1"/>
          <p:nvPr/>
        </p:nvSpPr>
        <p:spPr>
          <a:xfrm>
            <a:off x="6318477" y="857258"/>
            <a:ext cx="289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1EDF4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DAY-TO-DAY OPERATION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5BF7FF2-286D-358C-5351-F3B8222D21FC}"/>
              </a:ext>
            </a:extLst>
          </p:cNvPr>
          <p:cNvCxnSpPr>
            <a:cxnSpLocks/>
          </p:cNvCxnSpPr>
          <p:nvPr/>
        </p:nvCxnSpPr>
        <p:spPr>
          <a:xfrm>
            <a:off x="4587422" y="3429000"/>
            <a:ext cx="603067" cy="0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700EF35-C939-E82E-C730-45DA0C073DD8}"/>
              </a:ext>
            </a:extLst>
          </p:cNvPr>
          <p:cNvCxnSpPr>
            <a:cxnSpLocks/>
          </p:cNvCxnSpPr>
          <p:nvPr/>
        </p:nvCxnSpPr>
        <p:spPr>
          <a:xfrm flipV="1">
            <a:off x="5159823" y="1018131"/>
            <a:ext cx="0" cy="2400218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967006E-5DD8-7384-0FA3-87F0135DA422}"/>
              </a:ext>
            </a:extLst>
          </p:cNvPr>
          <p:cNvSpPr txBox="1"/>
          <p:nvPr/>
        </p:nvSpPr>
        <p:spPr>
          <a:xfrm>
            <a:off x="6495359" y="1478280"/>
            <a:ext cx="19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REGULAR CLEAN</a:t>
            </a:r>
          </a:p>
        </p:txBody>
      </p:sp>
      <p:pic>
        <p:nvPicPr>
          <p:cNvPr id="14" name="Picture 13" descr="Shape, icon&#10;&#10;Description automatically generated">
            <a:extLst>
              <a:ext uri="{FF2B5EF4-FFF2-40B4-BE49-F238E27FC236}">
                <a16:creationId xmlns:a16="http://schemas.microsoft.com/office/drawing/2014/main" id="{14B99CFA-FE15-AF69-888C-F3973B04B14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3751" r="25652"/>
          <a:stretch/>
        </p:blipFill>
        <p:spPr>
          <a:xfrm>
            <a:off x="6008910" y="2259385"/>
            <a:ext cx="486449" cy="540805"/>
          </a:xfrm>
          <a:prstGeom prst="rect">
            <a:avLst/>
          </a:prstGeom>
        </p:spPr>
      </p:pic>
      <p:pic>
        <p:nvPicPr>
          <p:cNvPr id="16" name="Picture 15" descr="A picture containing text, night sky&#10;&#10;Description automatically generated">
            <a:extLst>
              <a:ext uri="{FF2B5EF4-FFF2-40B4-BE49-F238E27FC236}">
                <a16:creationId xmlns:a16="http://schemas.microsoft.com/office/drawing/2014/main" id="{6C7CD67D-2659-53B9-EBB3-B43D80E1E40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4643" r="25893"/>
          <a:stretch/>
        </p:blipFill>
        <p:spPr>
          <a:xfrm>
            <a:off x="6019794" y="1392544"/>
            <a:ext cx="475565" cy="54080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FE89E8-C07F-7BAF-FE19-0A0917992767}"/>
              </a:ext>
            </a:extLst>
          </p:cNvPr>
          <p:cNvSpPr txBox="1"/>
          <p:nvPr/>
        </p:nvSpPr>
        <p:spPr>
          <a:xfrm>
            <a:off x="6495359" y="2345121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PREMIUM CLEAN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E11CDE-C72F-D3F2-E4F9-592A52DDA293}"/>
              </a:ext>
            </a:extLst>
          </p:cNvPr>
          <p:cNvSpPr txBox="1"/>
          <p:nvPr/>
        </p:nvSpPr>
        <p:spPr>
          <a:xfrm>
            <a:off x="6489009" y="2615524"/>
            <a:ext cx="4039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Complete interior and exterior cleaning</a:t>
            </a:r>
            <a:br>
              <a:rPr lang="en-US" sz="1600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600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PRICE : $25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EA7DF7-FCEA-3A26-3CC6-0BC96982F389}"/>
              </a:ext>
            </a:extLst>
          </p:cNvPr>
          <p:cNvSpPr txBox="1"/>
          <p:nvPr/>
        </p:nvSpPr>
        <p:spPr>
          <a:xfrm>
            <a:off x="6489009" y="1745171"/>
            <a:ext cx="30311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Thorough exterior cleaning</a:t>
            </a:r>
            <a:br>
              <a:rPr lang="en-US" sz="1600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1600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PRICE : $15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4236E06-730E-4C30-F935-EEC64D6B575D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5132913" y="1038583"/>
            <a:ext cx="886881" cy="3342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9FCC594-C7F1-907A-F4B8-03C08C5161FB}"/>
              </a:ext>
            </a:extLst>
          </p:cNvPr>
          <p:cNvCxnSpPr>
            <a:cxnSpLocks/>
          </p:cNvCxnSpPr>
          <p:nvPr/>
        </p:nvCxnSpPr>
        <p:spPr>
          <a:xfrm flipV="1">
            <a:off x="5159823" y="2387599"/>
            <a:ext cx="0" cy="1318127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3C6C137-6768-C75B-ADC0-A540E4FFA4BE}"/>
              </a:ext>
            </a:extLst>
          </p:cNvPr>
          <p:cNvCxnSpPr>
            <a:cxnSpLocks/>
          </p:cNvCxnSpPr>
          <p:nvPr/>
        </p:nvCxnSpPr>
        <p:spPr>
          <a:xfrm>
            <a:off x="5130497" y="3718346"/>
            <a:ext cx="886881" cy="3342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7FC150E-710B-6495-AB66-4C8241E2C155}"/>
              </a:ext>
            </a:extLst>
          </p:cNvPr>
          <p:cNvSpPr txBox="1"/>
          <p:nvPr/>
        </p:nvSpPr>
        <p:spPr>
          <a:xfrm>
            <a:off x="9452323" y="4756694"/>
            <a:ext cx="1875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FRANCHISE FEE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CF4BBD-8058-24D2-33BB-7E14189D9937}"/>
              </a:ext>
            </a:extLst>
          </p:cNvPr>
          <p:cNvSpPr txBox="1"/>
          <p:nvPr/>
        </p:nvSpPr>
        <p:spPr>
          <a:xfrm>
            <a:off x="9452323" y="5015855"/>
            <a:ext cx="9172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$30,000</a:t>
            </a:r>
          </a:p>
        </p:txBody>
      </p:sp>
      <p:pic>
        <p:nvPicPr>
          <p:cNvPr id="39" name="Picture 38" descr="Icon&#10;&#10;Description automatically generated">
            <a:extLst>
              <a:ext uri="{FF2B5EF4-FFF2-40B4-BE49-F238E27FC236}">
                <a16:creationId xmlns:a16="http://schemas.microsoft.com/office/drawing/2014/main" id="{84E47796-6A99-CBD0-7160-DA83B9C045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3721" y="5287233"/>
            <a:ext cx="966323" cy="543557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753F983-B134-D866-55DC-8A267AC7E34A}"/>
              </a:ext>
            </a:extLst>
          </p:cNvPr>
          <p:cNvSpPr txBox="1"/>
          <p:nvPr/>
        </p:nvSpPr>
        <p:spPr>
          <a:xfrm>
            <a:off x="9452323" y="5380425"/>
            <a:ext cx="1643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ROYALTY FEE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DEB7F55-415C-C238-A8AD-0A4C88CE5D4C}"/>
              </a:ext>
            </a:extLst>
          </p:cNvPr>
          <p:cNvSpPr txBox="1"/>
          <p:nvPr/>
        </p:nvSpPr>
        <p:spPr>
          <a:xfrm>
            <a:off x="9452323" y="5651535"/>
            <a:ext cx="226857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80%/20% for five years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9062DF3-E104-E787-27E7-C7E679BF65B5}"/>
              </a:ext>
            </a:extLst>
          </p:cNvPr>
          <p:cNvSpPr txBox="1"/>
          <p:nvPr/>
        </p:nvSpPr>
        <p:spPr>
          <a:xfrm>
            <a:off x="6006812" y="3534264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FUTURE PLAN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07325D-4C2B-D094-52B4-57900D845A19}"/>
              </a:ext>
            </a:extLst>
          </p:cNvPr>
          <p:cNvSpPr/>
          <p:nvPr/>
        </p:nvSpPr>
        <p:spPr>
          <a:xfrm>
            <a:off x="6029730" y="4063235"/>
            <a:ext cx="2151486" cy="540805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41D3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4C27F8-E620-5CBF-E390-DF0E61A97AE6}"/>
              </a:ext>
            </a:extLst>
          </p:cNvPr>
          <p:cNvSpPr txBox="1"/>
          <p:nvPr/>
        </p:nvSpPr>
        <p:spPr>
          <a:xfrm>
            <a:off x="6019794" y="4141967"/>
            <a:ext cx="2179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1EDF4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DIVERSIFICATION</a:t>
            </a:r>
          </a:p>
        </p:txBody>
      </p:sp>
      <p:pic>
        <p:nvPicPr>
          <p:cNvPr id="30" name="Picture 29" descr="Icon&#10;&#10;Description automatically generated">
            <a:extLst>
              <a:ext uri="{FF2B5EF4-FFF2-40B4-BE49-F238E27FC236}">
                <a16:creationId xmlns:a16="http://schemas.microsoft.com/office/drawing/2014/main" id="{684A0F99-9F95-38D2-760A-41A103956D9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736" t="24580" r="22435" b="26512"/>
          <a:stretch/>
        </p:blipFill>
        <p:spPr>
          <a:xfrm flipH="1">
            <a:off x="5973688" y="4926662"/>
            <a:ext cx="238201" cy="22920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32C9189-C371-32F0-6AAE-88F1EF29D8B0}"/>
              </a:ext>
            </a:extLst>
          </p:cNvPr>
          <p:cNvSpPr txBox="1"/>
          <p:nvPr/>
        </p:nvSpPr>
        <p:spPr>
          <a:xfrm>
            <a:off x="6173809" y="5194631"/>
            <a:ext cx="25186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600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SNEAKER RESTORATION</a:t>
            </a:r>
          </a:p>
        </p:txBody>
      </p:sp>
      <p:pic>
        <p:nvPicPr>
          <p:cNvPr id="37" name="Picture 36" descr="Icon&#10;&#10;Description automatically generated">
            <a:extLst>
              <a:ext uri="{FF2B5EF4-FFF2-40B4-BE49-F238E27FC236}">
                <a16:creationId xmlns:a16="http://schemas.microsoft.com/office/drawing/2014/main" id="{422EE21D-454C-5141-6B64-7631BE7867B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736" t="24580" r="22435" b="26512"/>
          <a:stretch/>
        </p:blipFill>
        <p:spPr>
          <a:xfrm flipH="1">
            <a:off x="5973688" y="5226376"/>
            <a:ext cx="238201" cy="229206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A07F2D7D-A125-9829-6DD9-C0ADF4F4D446}"/>
              </a:ext>
            </a:extLst>
          </p:cNvPr>
          <p:cNvSpPr txBox="1"/>
          <p:nvPr/>
        </p:nvSpPr>
        <p:spPr>
          <a:xfrm>
            <a:off x="6177940" y="4908147"/>
            <a:ext cx="1580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600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SHOE SHINING</a:t>
            </a:r>
          </a:p>
        </p:txBody>
      </p:sp>
      <p:pic>
        <p:nvPicPr>
          <p:cNvPr id="40" name="Picture 39" descr="Icon&#10;&#10;Description automatically generated">
            <a:extLst>
              <a:ext uri="{FF2B5EF4-FFF2-40B4-BE49-F238E27FC236}">
                <a16:creationId xmlns:a16="http://schemas.microsoft.com/office/drawing/2014/main" id="{C60E64E8-F87A-EBD9-4077-F10E2CE08DE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736" t="24580" r="22435" b="26512"/>
          <a:stretch/>
        </p:blipFill>
        <p:spPr>
          <a:xfrm flipH="1">
            <a:off x="5973688" y="5528376"/>
            <a:ext cx="238201" cy="229206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038044CF-E9C0-1711-C287-363BEA68FDE0}"/>
              </a:ext>
            </a:extLst>
          </p:cNvPr>
          <p:cNvSpPr txBox="1"/>
          <p:nvPr/>
        </p:nvSpPr>
        <p:spPr>
          <a:xfrm>
            <a:off x="6173809" y="5491979"/>
            <a:ext cx="21130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600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SHOE ACCESSORIES</a:t>
            </a:r>
          </a:p>
        </p:txBody>
      </p:sp>
      <p:pic>
        <p:nvPicPr>
          <p:cNvPr id="43" name="Picture 42" descr="Icon&#10;&#10;Description automatically generated">
            <a:extLst>
              <a:ext uri="{FF2B5EF4-FFF2-40B4-BE49-F238E27FC236}">
                <a16:creationId xmlns:a16="http://schemas.microsoft.com/office/drawing/2014/main" id="{BF9373DF-820C-DD59-3D3D-F0BE23F7FC9E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736" t="24580" r="22435" b="26512"/>
          <a:stretch/>
        </p:blipFill>
        <p:spPr>
          <a:xfrm flipH="1">
            <a:off x="5973688" y="5836040"/>
            <a:ext cx="238201" cy="22920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FE95D551-644A-3079-6DE7-D5E2FBF88BE7}"/>
              </a:ext>
            </a:extLst>
          </p:cNvPr>
          <p:cNvSpPr txBox="1"/>
          <p:nvPr/>
        </p:nvSpPr>
        <p:spPr>
          <a:xfrm>
            <a:off x="6167459" y="5793293"/>
            <a:ext cx="2282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600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CLEANING PRODUCTS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F7C6F5A-48CC-1342-00C4-0B18361C5D0E}"/>
              </a:ext>
            </a:extLst>
          </p:cNvPr>
          <p:cNvSpPr/>
          <p:nvPr/>
        </p:nvSpPr>
        <p:spPr>
          <a:xfrm>
            <a:off x="9019146" y="4063235"/>
            <a:ext cx="2309012" cy="540805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41D39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C5C4D44-2877-6727-49E8-1B43359C551E}"/>
              </a:ext>
            </a:extLst>
          </p:cNvPr>
          <p:cNvSpPr txBox="1"/>
          <p:nvPr/>
        </p:nvSpPr>
        <p:spPr>
          <a:xfrm>
            <a:off x="9009210" y="4141967"/>
            <a:ext cx="23189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1EDF4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FRANCHISE SALES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DCC8B83-E2E7-DCEB-E202-18F76B702EB2}"/>
              </a:ext>
            </a:extLst>
          </p:cNvPr>
          <p:cNvCxnSpPr>
            <a:cxnSpLocks/>
          </p:cNvCxnSpPr>
          <p:nvPr/>
        </p:nvCxnSpPr>
        <p:spPr>
          <a:xfrm flipH="1" flipV="1">
            <a:off x="7074520" y="3878196"/>
            <a:ext cx="3005" cy="238371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9F50A60-2B6C-4DF5-3889-D8FD71D4EEEF}"/>
              </a:ext>
            </a:extLst>
          </p:cNvPr>
          <p:cNvCxnSpPr>
            <a:cxnSpLocks/>
          </p:cNvCxnSpPr>
          <p:nvPr/>
        </p:nvCxnSpPr>
        <p:spPr>
          <a:xfrm flipH="1">
            <a:off x="6850493" y="3905184"/>
            <a:ext cx="254980" cy="0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63C4142-86BB-B305-B18B-1A3B8CCC9FCF}"/>
              </a:ext>
            </a:extLst>
          </p:cNvPr>
          <p:cNvCxnSpPr>
            <a:cxnSpLocks/>
          </p:cNvCxnSpPr>
          <p:nvPr/>
        </p:nvCxnSpPr>
        <p:spPr>
          <a:xfrm flipV="1">
            <a:off x="10205957" y="3876608"/>
            <a:ext cx="0" cy="238935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05D1C9E-C067-07F8-67CF-C4C2F1B6C9AC}"/>
              </a:ext>
            </a:extLst>
          </p:cNvPr>
          <p:cNvCxnSpPr>
            <a:cxnSpLocks/>
          </p:cNvCxnSpPr>
          <p:nvPr/>
        </p:nvCxnSpPr>
        <p:spPr>
          <a:xfrm flipV="1">
            <a:off x="6850152" y="3834627"/>
            <a:ext cx="341" cy="97545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Connector 1031">
            <a:extLst>
              <a:ext uri="{FF2B5EF4-FFF2-40B4-BE49-F238E27FC236}">
                <a16:creationId xmlns:a16="http://schemas.microsoft.com/office/drawing/2014/main" id="{2AF40BB0-DD3B-C330-F060-F61DBEB7C0A5}"/>
              </a:ext>
            </a:extLst>
          </p:cNvPr>
          <p:cNvCxnSpPr>
            <a:cxnSpLocks/>
          </p:cNvCxnSpPr>
          <p:nvPr/>
        </p:nvCxnSpPr>
        <p:spPr>
          <a:xfrm flipH="1">
            <a:off x="7068324" y="3903596"/>
            <a:ext cx="3159409" cy="1588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bject 17">
            <a:extLst>
              <a:ext uri="{FF2B5EF4-FFF2-40B4-BE49-F238E27FC236}">
                <a16:creationId xmlns:a16="http://schemas.microsoft.com/office/drawing/2014/main" id="{D482C667-7FC5-3C77-12E3-16ABC880633D}"/>
              </a:ext>
            </a:extLst>
          </p:cNvPr>
          <p:cNvSpPr/>
          <p:nvPr/>
        </p:nvSpPr>
        <p:spPr>
          <a:xfrm>
            <a:off x="11865183" y="6493335"/>
            <a:ext cx="133317" cy="24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ts val="1917"/>
              </a:lnSpc>
              <a:buNone/>
            </a:pPr>
            <a:r>
              <a:rPr lang="en-US" sz="1350" kern="0" spc="14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</a:t>
            </a:r>
            <a:endParaRPr lang="en-US" dirty="0">
              <a:solidFill>
                <a:srgbClr val="041D39"/>
              </a:solidFill>
            </a:endParaRPr>
          </a:p>
        </p:txBody>
      </p:sp>
      <p:pic>
        <p:nvPicPr>
          <p:cNvPr id="7" name="Object 1" descr="preencoded.png">
            <a:extLst>
              <a:ext uri="{FF2B5EF4-FFF2-40B4-BE49-F238E27FC236}">
                <a16:creationId xmlns:a16="http://schemas.microsoft.com/office/drawing/2014/main" id="{0D84B3CE-82DB-066D-FF54-C1ABC9C7269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0" y="5609771"/>
            <a:ext cx="1531257" cy="1531257"/>
          </a:xfrm>
          <a:prstGeom prst="rect">
            <a:avLst/>
          </a:prstGeom>
        </p:spPr>
      </p:pic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3C48A2B4-0EBB-4E55-D3BB-E3DF396A92C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6736" t="24580" r="22435" b="26512"/>
          <a:stretch/>
        </p:blipFill>
        <p:spPr>
          <a:xfrm flipH="1">
            <a:off x="5973688" y="4672469"/>
            <a:ext cx="238201" cy="2292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08F030A-D20A-9424-5EB1-5976BA9C6E0C}"/>
              </a:ext>
            </a:extLst>
          </p:cNvPr>
          <p:cNvSpPr txBox="1"/>
          <p:nvPr/>
        </p:nvSpPr>
        <p:spPr>
          <a:xfrm>
            <a:off x="6184926" y="4642803"/>
            <a:ext cx="27422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600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SUBSCRIPTION MODEL</a:t>
            </a:r>
          </a:p>
        </p:txBody>
      </p:sp>
    </p:spTree>
    <p:extLst>
      <p:ext uri="{BB962C8B-B14F-4D97-AF65-F5344CB8AC3E}">
        <p14:creationId xmlns:p14="http://schemas.microsoft.com/office/powerpoint/2010/main" val="304642219"/>
      </p:ext>
    </p:extLst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/>
      <p:bldP spid="17" grpId="0"/>
      <p:bldP spid="18" grpId="0"/>
      <p:bldP spid="21" grpId="0"/>
      <p:bldP spid="34" grpId="0"/>
      <p:bldP spid="35" grpId="0"/>
      <p:bldP spid="44" grpId="0"/>
      <p:bldP spid="45" grpId="0"/>
      <p:bldP spid="46" grpId="0"/>
      <p:bldP spid="11" grpId="0" animBg="1"/>
      <p:bldP spid="36" grpId="0"/>
      <p:bldP spid="38" grpId="0"/>
      <p:bldP spid="42" grpId="0"/>
      <p:bldP spid="47" grpId="0"/>
      <p:bldP spid="48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9A9E3450-2F44-A189-037C-C17468239363}"/>
              </a:ext>
            </a:extLst>
          </p:cNvPr>
          <p:cNvSpPr/>
          <p:nvPr/>
        </p:nvSpPr>
        <p:spPr>
          <a:xfrm>
            <a:off x="9032743" y="5477256"/>
            <a:ext cx="3159257" cy="873548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0263" y="1484889"/>
            <a:ext cx="4618470" cy="4618470"/>
          </a:xfrm>
          <a:prstGeom prst="rect">
            <a:avLst/>
          </a:prstGeom>
        </p:spPr>
      </p:pic>
      <p:pic>
        <p:nvPicPr>
          <p:cNvPr id="4" name="Object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6626" y="2209456"/>
            <a:ext cx="3142464" cy="3161509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53091" y="2957420"/>
            <a:ext cx="1666458" cy="1666458"/>
          </a:xfrm>
          <a:prstGeom prst="rect">
            <a:avLst/>
          </a:prstGeom>
        </p:spPr>
      </p:pic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15193" y="3769192"/>
            <a:ext cx="4014769" cy="811924"/>
          </a:xfrm>
          <a:prstGeom prst="rect">
            <a:avLst/>
          </a:prstGeom>
        </p:spPr>
      </p:pic>
      <p:pic>
        <p:nvPicPr>
          <p:cNvPr id="7" name="Object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614900" y="3713710"/>
            <a:ext cx="142839" cy="142839"/>
          </a:xfrm>
          <a:prstGeom prst="rect">
            <a:avLst/>
          </a:prstGeom>
        </p:spPr>
      </p:pic>
      <p:pic>
        <p:nvPicPr>
          <p:cNvPr id="8" name="Object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715669" y="2212527"/>
            <a:ext cx="3014293" cy="1199850"/>
          </a:xfrm>
          <a:prstGeom prst="rect">
            <a:avLst/>
          </a:prstGeom>
        </p:spPr>
      </p:pic>
      <p:pic>
        <p:nvPicPr>
          <p:cNvPr id="9" name="Object 8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677582" y="3302867"/>
            <a:ext cx="142839" cy="142839"/>
          </a:xfrm>
          <a:prstGeom prst="rect">
            <a:avLst/>
          </a:prstGeom>
        </p:spPr>
      </p:pic>
      <p:pic>
        <p:nvPicPr>
          <p:cNvPr id="10" name="Object 9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01620" y="3002298"/>
            <a:ext cx="1828343" cy="857036"/>
          </a:xfrm>
          <a:prstGeom prst="rect">
            <a:avLst/>
          </a:prstGeom>
        </p:spPr>
      </p:pic>
      <p:pic>
        <p:nvPicPr>
          <p:cNvPr id="11" name="Object 10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863525" y="3738484"/>
            <a:ext cx="142839" cy="142839"/>
          </a:xfrm>
          <a:prstGeom prst="rect">
            <a:avLst/>
          </a:prstGeom>
        </p:spPr>
      </p:pic>
      <p:sp>
        <p:nvSpPr>
          <p:cNvPr id="12" name="Object 11"/>
          <p:cNvSpPr/>
          <p:nvPr/>
        </p:nvSpPr>
        <p:spPr>
          <a:xfrm>
            <a:off x="6887044" y="4338096"/>
            <a:ext cx="4555482" cy="29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300"/>
              </a:lnSpc>
              <a:buNone/>
            </a:pPr>
            <a:r>
              <a:rPr lang="en-US" sz="1800" kern="0" spc="18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Market:</a:t>
            </a:r>
            <a:endParaRPr lang="en-US" dirty="0">
              <a:solidFill>
                <a:srgbClr val="041D39"/>
              </a:solidFill>
            </a:endParaRPr>
          </a:p>
        </p:txBody>
      </p:sp>
      <p:sp>
        <p:nvSpPr>
          <p:cNvPr id="13" name="Object 12"/>
          <p:cNvSpPr/>
          <p:nvPr/>
        </p:nvSpPr>
        <p:spPr>
          <a:xfrm>
            <a:off x="6887044" y="4610697"/>
            <a:ext cx="4555482" cy="2704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30"/>
              </a:lnSpc>
              <a:spcBef>
                <a:spcPts val="443"/>
              </a:spcBef>
              <a:buNone/>
            </a:pPr>
            <a:r>
              <a:rPr lang="en-US" sz="1500" kern="0" spc="15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19,000+ College students at BMCC</a:t>
            </a:r>
            <a:endParaRPr lang="en-US" dirty="0">
              <a:solidFill>
                <a:srgbClr val="041D39"/>
              </a:solidFill>
            </a:endParaRPr>
          </a:p>
        </p:txBody>
      </p:sp>
      <p:sp>
        <p:nvSpPr>
          <p:cNvPr id="14" name="Object 13"/>
          <p:cNvSpPr/>
          <p:nvPr/>
        </p:nvSpPr>
        <p:spPr>
          <a:xfrm>
            <a:off x="6882429" y="1981190"/>
            <a:ext cx="4129940" cy="29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300"/>
              </a:lnSpc>
              <a:buNone/>
            </a:pPr>
            <a:r>
              <a:rPr lang="en-US" sz="1800" kern="0" spc="18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Available Market:</a:t>
            </a:r>
            <a:endParaRPr lang="en-US" dirty="0">
              <a:solidFill>
                <a:srgbClr val="041D39"/>
              </a:solidFill>
            </a:endParaRPr>
          </a:p>
        </p:txBody>
      </p:sp>
      <p:sp>
        <p:nvSpPr>
          <p:cNvPr id="15" name="Object 14"/>
          <p:cNvSpPr/>
          <p:nvPr/>
        </p:nvSpPr>
        <p:spPr>
          <a:xfrm>
            <a:off x="6887044" y="2233052"/>
            <a:ext cx="4129940" cy="2704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30"/>
              </a:lnSpc>
              <a:spcBef>
                <a:spcPts val="443"/>
              </a:spcBef>
              <a:buNone/>
            </a:pPr>
            <a:r>
              <a:rPr lang="en-US" sz="1500" kern="0" spc="15" dirty="0">
                <a:solidFill>
                  <a:srgbClr val="000000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594,000+ University Students in NYC</a:t>
            </a:r>
            <a:endParaRPr lang="en-US" dirty="0"/>
          </a:p>
        </p:txBody>
      </p:sp>
      <p:sp>
        <p:nvSpPr>
          <p:cNvPr id="16" name="Object 15"/>
          <p:cNvSpPr/>
          <p:nvPr/>
        </p:nvSpPr>
        <p:spPr>
          <a:xfrm>
            <a:off x="6882429" y="2818445"/>
            <a:ext cx="4025191" cy="29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300"/>
              </a:lnSpc>
              <a:buNone/>
            </a:pPr>
            <a:r>
              <a:rPr lang="en-US" sz="1800" kern="0" spc="18" dirty="0">
                <a:latin typeface="Roboto" pitchFamily="34" charset="0"/>
                <a:ea typeface="Roboto" pitchFamily="34" charset="-122"/>
                <a:cs typeface="Roboto" pitchFamily="34" charset="-120"/>
              </a:rPr>
              <a:t>Potential</a:t>
            </a:r>
            <a:r>
              <a:rPr lang="en-US" sz="1800" kern="0" spc="18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Market:</a:t>
            </a:r>
            <a:endParaRPr lang="en-US" dirty="0"/>
          </a:p>
        </p:txBody>
      </p:sp>
      <p:sp>
        <p:nvSpPr>
          <p:cNvPr id="17" name="Object 16"/>
          <p:cNvSpPr/>
          <p:nvPr/>
        </p:nvSpPr>
        <p:spPr>
          <a:xfrm>
            <a:off x="6882429" y="3062304"/>
            <a:ext cx="4456596" cy="2704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ts val="2130"/>
              </a:lnSpc>
              <a:spcBef>
                <a:spcPts val="443"/>
              </a:spcBef>
              <a:buNone/>
            </a:pPr>
            <a:r>
              <a:rPr lang="en-US" sz="1500" kern="0" spc="15" dirty="0">
                <a:solidFill>
                  <a:srgbClr val="041D39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1.6m+ office workers in NYC</a:t>
            </a:r>
            <a:endParaRPr lang="en-US" dirty="0"/>
          </a:p>
        </p:txBody>
      </p:sp>
      <p:sp>
        <p:nvSpPr>
          <p:cNvPr id="18" name="Object 17"/>
          <p:cNvSpPr/>
          <p:nvPr/>
        </p:nvSpPr>
        <p:spPr>
          <a:xfrm>
            <a:off x="11865183" y="6493335"/>
            <a:ext cx="133317" cy="24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ts val="1917"/>
              </a:lnSpc>
              <a:buNone/>
            </a:pPr>
            <a:r>
              <a:rPr lang="en-US" sz="1350" kern="0" spc="14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dirty="0">
              <a:solidFill>
                <a:srgbClr val="041D39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37BD19-8475-7149-2FB2-2F34EDE5C3C2}"/>
              </a:ext>
            </a:extLst>
          </p:cNvPr>
          <p:cNvSpPr/>
          <p:nvPr/>
        </p:nvSpPr>
        <p:spPr>
          <a:xfrm>
            <a:off x="0" y="0"/>
            <a:ext cx="12192000" cy="1190327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bject 1">
            <a:extLst>
              <a:ext uri="{FF2B5EF4-FFF2-40B4-BE49-F238E27FC236}">
                <a16:creationId xmlns:a16="http://schemas.microsoft.com/office/drawing/2014/main" id="{E74E176F-F4EB-BA3A-6F20-3ED95B19A154}"/>
              </a:ext>
            </a:extLst>
          </p:cNvPr>
          <p:cNvSpPr/>
          <p:nvPr/>
        </p:nvSpPr>
        <p:spPr>
          <a:xfrm>
            <a:off x="0" y="381897"/>
            <a:ext cx="12188952" cy="540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ln>
                  <a:solidFill>
                    <a:srgbClr val="C1EDF4"/>
                  </a:solidFill>
                </a:ln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MARKET IN NYC</a:t>
            </a:r>
            <a:endParaRPr lang="en-US" dirty="0">
              <a:ln>
                <a:solidFill>
                  <a:srgbClr val="C1EDF4"/>
                </a:solidFill>
              </a:ln>
              <a:solidFill>
                <a:srgbClr val="C1EDF4"/>
              </a:solidFill>
            </a:endParaRPr>
          </a:p>
        </p:txBody>
      </p:sp>
      <p:pic>
        <p:nvPicPr>
          <p:cNvPr id="2" name="Object 1" descr="preencoded.png">
            <a:extLst>
              <a:ext uri="{FF2B5EF4-FFF2-40B4-BE49-F238E27FC236}">
                <a16:creationId xmlns:a16="http://schemas.microsoft.com/office/drawing/2014/main" id="{2C9D8E1E-A3CE-94FD-04E6-8A523FDBF27D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0" y="5609771"/>
            <a:ext cx="1531257" cy="1531257"/>
          </a:xfrm>
          <a:prstGeom prst="rect">
            <a:avLst/>
          </a:prstGeom>
        </p:spPr>
      </p:pic>
      <p:sp>
        <p:nvSpPr>
          <p:cNvPr id="21" name="Object 12">
            <a:extLst>
              <a:ext uri="{FF2B5EF4-FFF2-40B4-BE49-F238E27FC236}">
                <a16:creationId xmlns:a16="http://schemas.microsoft.com/office/drawing/2014/main" id="{34020B09-9CA4-D757-BD1C-7ECF1A8E3F7C}"/>
              </a:ext>
            </a:extLst>
          </p:cNvPr>
          <p:cNvSpPr/>
          <p:nvPr/>
        </p:nvSpPr>
        <p:spPr>
          <a:xfrm>
            <a:off x="9160168" y="5892699"/>
            <a:ext cx="3159257" cy="2984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130"/>
              </a:lnSpc>
              <a:spcBef>
                <a:spcPts val="443"/>
              </a:spcBef>
              <a:buNone/>
            </a:pPr>
            <a:r>
              <a:rPr lang="en-US" sz="1300" b="1" kern="0" spc="15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SHOE CARE MARKET IN 2020</a:t>
            </a:r>
            <a:endParaRPr lang="en-US" sz="1300" b="1" dirty="0">
              <a:solidFill>
                <a:srgbClr val="C1EDF4"/>
              </a:solidFill>
            </a:endParaRPr>
          </a:p>
        </p:txBody>
      </p:sp>
      <p:sp>
        <p:nvSpPr>
          <p:cNvPr id="23" name="Object 12">
            <a:extLst>
              <a:ext uri="{FF2B5EF4-FFF2-40B4-BE49-F238E27FC236}">
                <a16:creationId xmlns:a16="http://schemas.microsoft.com/office/drawing/2014/main" id="{A7FEF34C-9030-E502-F809-230139F88822}"/>
              </a:ext>
            </a:extLst>
          </p:cNvPr>
          <p:cNvSpPr/>
          <p:nvPr/>
        </p:nvSpPr>
        <p:spPr>
          <a:xfrm>
            <a:off x="9160168" y="5676697"/>
            <a:ext cx="3159257" cy="41510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130"/>
              </a:lnSpc>
              <a:spcBef>
                <a:spcPts val="443"/>
              </a:spcBef>
              <a:buNone/>
            </a:pPr>
            <a:r>
              <a:rPr lang="en-US" sz="3000" b="1" kern="0" spc="15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$4.9 BILLION</a:t>
            </a:r>
            <a:endParaRPr lang="en-US" sz="3000" b="1" dirty="0">
              <a:solidFill>
                <a:srgbClr val="C1EDF4"/>
              </a:solidFill>
            </a:endParaRPr>
          </a:p>
        </p:txBody>
      </p:sp>
      <p:sp>
        <p:nvSpPr>
          <p:cNvPr id="24" name="Object 12">
            <a:extLst>
              <a:ext uri="{FF2B5EF4-FFF2-40B4-BE49-F238E27FC236}">
                <a16:creationId xmlns:a16="http://schemas.microsoft.com/office/drawing/2014/main" id="{65514F42-7D8B-6B40-4532-00625D8942A7}"/>
              </a:ext>
            </a:extLst>
          </p:cNvPr>
          <p:cNvSpPr/>
          <p:nvPr/>
        </p:nvSpPr>
        <p:spPr>
          <a:xfrm>
            <a:off x="9160168" y="6051729"/>
            <a:ext cx="3159257" cy="2984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130"/>
              </a:lnSpc>
              <a:spcBef>
                <a:spcPts val="443"/>
              </a:spcBef>
              <a:buNone/>
            </a:pPr>
            <a:r>
              <a:rPr lang="en-US" sz="900" kern="0" spc="15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: Grand View Research</a:t>
            </a:r>
            <a:endParaRPr lang="en-US" sz="900" dirty="0">
              <a:solidFill>
                <a:srgbClr val="C1EDF4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E3094B-9515-445A-E8A9-A6046A79A290}"/>
              </a:ext>
            </a:extLst>
          </p:cNvPr>
          <p:cNvSpPr/>
          <p:nvPr/>
        </p:nvSpPr>
        <p:spPr>
          <a:xfrm>
            <a:off x="5746061" y="5477256"/>
            <a:ext cx="3159257" cy="873548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bject 12">
            <a:extLst>
              <a:ext uri="{FF2B5EF4-FFF2-40B4-BE49-F238E27FC236}">
                <a16:creationId xmlns:a16="http://schemas.microsoft.com/office/drawing/2014/main" id="{3ABACEFA-D483-EC53-F0BB-328F472C2D05}"/>
              </a:ext>
            </a:extLst>
          </p:cNvPr>
          <p:cNvSpPr/>
          <p:nvPr/>
        </p:nvSpPr>
        <p:spPr>
          <a:xfrm>
            <a:off x="5873486" y="5527452"/>
            <a:ext cx="3159257" cy="2984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130"/>
              </a:lnSpc>
              <a:spcBef>
                <a:spcPts val="443"/>
              </a:spcBef>
              <a:buNone/>
            </a:pPr>
            <a:r>
              <a:rPr lang="en-US" sz="1300" b="1" kern="0" spc="15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 AVERAGE NEW YORKERS OWN</a:t>
            </a:r>
            <a:endParaRPr lang="en-US" sz="1300" b="1" dirty="0">
              <a:solidFill>
                <a:srgbClr val="C1EDF4"/>
              </a:solidFill>
            </a:endParaRPr>
          </a:p>
        </p:txBody>
      </p:sp>
      <p:sp>
        <p:nvSpPr>
          <p:cNvPr id="27" name="Object 12">
            <a:extLst>
              <a:ext uri="{FF2B5EF4-FFF2-40B4-BE49-F238E27FC236}">
                <a16:creationId xmlns:a16="http://schemas.microsoft.com/office/drawing/2014/main" id="{7C2C3047-1E2D-EFAD-BE65-AD522CE42065}"/>
              </a:ext>
            </a:extLst>
          </p:cNvPr>
          <p:cNvSpPr/>
          <p:nvPr/>
        </p:nvSpPr>
        <p:spPr>
          <a:xfrm>
            <a:off x="5849655" y="5886407"/>
            <a:ext cx="3159257" cy="2475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130"/>
              </a:lnSpc>
              <a:spcBef>
                <a:spcPts val="443"/>
              </a:spcBef>
              <a:buNone/>
            </a:pPr>
            <a:r>
              <a:rPr lang="en-US" sz="3000" b="1" kern="0" spc="15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SHOES + 2/</a:t>
            </a:r>
            <a:r>
              <a:rPr lang="en-US" sz="3000" b="1" kern="0" spc="15" dirty="0" err="1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yr</a:t>
            </a:r>
            <a:endParaRPr lang="en-US" sz="3000" b="1" dirty="0">
              <a:solidFill>
                <a:srgbClr val="C1EDF4"/>
              </a:solidFill>
            </a:endParaRPr>
          </a:p>
        </p:txBody>
      </p:sp>
      <p:sp>
        <p:nvSpPr>
          <p:cNvPr id="28" name="Object 12">
            <a:extLst>
              <a:ext uri="{FF2B5EF4-FFF2-40B4-BE49-F238E27FC236}">
                <a16:creationId xmlns:a16="http://schemas.microsoft.com/office/drawing/2014/main" id="{A9148B20-EDAD-1460-C367-DAEAD16A0448}"/>
              </a:ext>
            </a:extLst>
          </p:cNvPr>
          <p:cNvSpPr/>
          <p:nvPr/>
        </p:nvSpPr>
        <p:spPr>
          <a:xfrm>
            <a:off x="5873486" y="6051729"/>
            <a:ext cx="3159257" cy="29848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ts val="2130"/>
              </a:lnSpc>
              <a:spcBef>
                <a:spcPts val="443"/>
              </a:spcBef>
              <a:buNone/>
            </a:pPr>
            <a:r>
              <a:rPr lang="en-US" sz="900" kern="0" spc="15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Source : ARCH-USA</a:t>
            </a:r>
            <a:endParaRPr lang="en-US" sz="900" dirty="0">
              <a:solidFill>
                <a:srgbClr val="C1EDF4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12" grpId="0"/>
      <p:bldP spid="13" grpId="0"/>
      <p:bldP spid="14" grpId="0"/>
      <p:bldP spid="15" grpId="0"/>
      <p:bldP spid="16" grpId="0"/>
      <p:bldP spid="17" grpId="0"/>
      <p:bldP spid="19" grpId="0" animBg="1"/>
      <p:bldP spid="21" grpId="0"/>
      <p:bldP spid="23" grpId="0"/>
      <p:bldP spid="24" grpId="0"/>
      <p:bldP spid="25" grpId="0" animBg="1"/>
      <p:bldP spid="26" grpId="0"/>
      <p:bldP spid="27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B51556D-FA3F-1ECB-2292-057075BCB4EA}"/>
              </a:ext>
            </a:extLst>
          </p:cNvPr>
          <p:cNvSpPr/>
          <p:nvPr/>
        </p:nvSpPr>
        <p:spPr>
          <a:xfrm>
            <a:off x="8420100" y="4430735"/>
            <a:ext cx="2167467" cy="270403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bject 14">
            <a:extLst>
              <a:ext uri="{FF2B5EF4-FFF2-40B4-BE49-F238E27FC236}">
                <a16:creationId xmlns:a16="http://schemas.microsoft.com/office/drawing/2014/main" id="{172630C7-0C9C-1C31-96C3-A5E9A683E1DA}"/>
              </a:ext>
            </a:extLst>
          </p:cNvPr>
          <p:cNvSpPr/>
          <p:nvPr/>
        </p:nvSpPr>
        <p:spPr>
          <a:xfrm>
            <a:off x="8420100" y="4440338"/>
            <a:ext cx="2167467" cy="2704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spcBef>
                <a:spcPts val="443"/>
              </a:spcBef>
              <a:buNone/>
            </a:pPr>
            <a:r>
              <a:rPr lang="en-US" sz="1500" b="1" kern="0" spc="15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Partner</a:t>
            </a:r>
            <a:endParaRPr lang="en-US" b="1" dirty="0">
              <a:solidFill>
                <a:srgbClr val="C1EDF4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A6FA0A0-C7A9-98B2-B601-CCEFAC409F74}"/>
              </a:ext>
            </a:extLst>
          </p:cNvPr>
          <p:cNvSpPr/>
          <p:nvPr/>
        </p:nvSpPr>
        <p:spPr>
          <a:xfrm>
            <a:off x="5032456" y="4449733"/>
            <a:ext cx="2428221" cy="270403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bject 14">
            <a:extLst>
              <a:ext uri="{FF2B5EF4-FFF2-40B4-BE49-F238E27FC236}">
                <a16:creationId xmlns:a16="http://schemas.microsoft.com/office/drawing/2014/main" id="{E5B52B20-843D-4F38-8073-F795E85D6361}"/>
              </a:ext>
            </a:extLst>
          </p:cNvPr>
          <p:cNvSpPr/>
          <p:nvPr/>
        </p:nvSpPr>
        <p:spPr>
          <a:xfrm>
            <a:off x="5008671" y="4459611"/>
            <a:ext cx="2428223" cy="2704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spcBef>
                <a:spcPts val="443"/>
              </a:spcBef>
              <a:buNone/>
            </a:pPr>
            <a:r>
              <a:rPr lang="en-US" sz="1500" b="1" kern="0" spc="15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UI/UX &amp; App Development</a:t>
            </a:r>
            <a:endParaRPr lang="en-US" b="1" dirty="0">
              <a:solidFill>
                <a:srgbClr val="C1EDF4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E6DA2B-D152-719A-EEB3-476FE4F6C027}"/>
              </a:ext>
            </a:extLst>
          </p:cNvPr>
          <p:cNvSpPr/>
          <p:nvPr/>
        </p:nvSpPr>
        <p:spPr>
          <a:xfrm>
            <a:off x="1874043" y="4430461"/>
            <a:ext cx="1799924" cy="270403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bject 6"/>
          <p:cNvSpPr/>
          <p:nvPr/>
        </p:nvSpPr>
        <p:spPr>
          <a:xfrm>
            <a:off x="1237689" y="4428414"/>
            <a:ext cx="3072632" cy="2704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130"/>
              </a:lnSpc>
              <a:spcBef>
                <a:spcPts val="443"/>
              </a:spcBef>
              <a:buNone/>
            </a:pPr>
            <a:r>
              <a:rPr lang="en-US" sz="1500" b="1" kern="0" spc="15" dirty="0"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Founder &amp; CEO</a:t>
            </a:r>
            <a:endParaRPr lang="en-US" b="1" dirty="0">
              <a:solidFill>
                <a:srgbClr val="C1EDF4"/>
              </a:solidFill>
            </a:endParaRPr>
          </a:p>
        </p:txBody>
      </p:sp>
      <p:sp>
        <p:nvSpPr>
          <p:cNvPr id="10" name="Object 9"/>
          <p:cNvSpPr/>
          <p:nvPr/>
        </p:nvSpPr>
        <p:spPr>
          <a:xfrm>
            <a:off x="7928952" y="4079052"/>
            <a:ext cx="3072632" cy="29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  <a:buNone/>
            </a:pPr>
            <a:r>
              <a:rPr lang="en-US" sz="2100" b="1" kern="0" spc="18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Shani Majer</a:t>
            </a:r>
            <a:endParaRPr lang="en-US" sz="2100" b="1" dirty="0">
              <a:solidFill>
                <a:srgbClr val="041D39"/>
              </a:solidFill>
            </a:endParaRPr>
          </a:p>
        </p:txBody>
      </p:sp>
      <p:sp>
        <p:nvSpPr>
          <p:cNvPr id="19" name="Object 13">
            <a:extLst>
              <a:ext uri="{FF2B5EF4-FFF2-40B4-BE49-F238E27FC236}">
                <a16:creationId xmlns:a16="http://schemas.microsoft.com/office/drawing/2014/main" id="{B683B14C-D758-6363-205F-98C2C6169344}"/>
              </a:ext>
            </a:extLst>
          </p:cNvPr>
          <p:cNvSpPr/>
          <p:nvPr/>
        </p:nvSpPr>
        <p:spPr>
          <a:xfrm>
            <a:off x="4686467" y="4098325"/>
            <a:ext cx="3072632" cy="29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  <a:buNone/>
            </a:pPr>
            <a:r>
              <a:rPr lang="en-US" sz="2100" b="1" kern="0" spc="18" dirty="0" err="1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Htet</a:t>
            </a:r>
            <a:r>
              <a:rPr lang="en-US" sz="2100" b="1" kern="0" spc="18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Aung Lin</a:t>
            </a:r>
            <a:endParaRPr lang="en-US" sz="2100" b="1" dirty="0">
              <a:solidFill>
                <a:srgbClr val="041D39"/>
              </a:solidFill>
            </a:endParaRPr>
          </a:p>
        </p:txBody>
      </p:sp>
      <p:pic>
        <p:nvPicPr>
          <p:cNvPr id="21" name="Object 7" descr="preencoded.png">
            <a:extLst>
              <a:ext uri="{FF2B5EF4-FFF2-40B4-BE49-F238E27FC236}">
                <a16:creationId xmlns:a16="http://schemas.microsoft.com/office/drawing/2014/main" id="{3A48104C-B8F6-BD8B-E3BA-D0D00B99587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347" t="7595" b="4752"/>
          <a:stretch/>
        </p:blipFill>
        <p:spPr>
          <a:xfrm>
            <a:off x="8274942" y="1569346"/>
            <a:ext cx="2380655" cy="2380655"/>
          </a:xfrm>
          <a:prstGeom prst="ellipse">
            <a:avLst/>
          </a:prstGeom>
        </p:spPr>
      </p:pic>
      <p:pic>
        <p:nvPicPr>
          <p:cNvPr id="17" name="Object 11">
            <a:extLst>
              <a:ext uri="{FF2B5EF4-FFF2-40B4-BE49-F238E27FC236}">
                <a16:creationId xmlns:a16="http://schemas.microsoft.com/office/drawing/2014/main" id="{6862F86B-AB6E-0174-5ED7-D7AC69E7AA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552" t="-1204" r="12552" b="1204"/>
          <a:stretch/>
        </p:blipFill>
        <p:spPr>
          <a:xfrm>
            <a:off x="5032456" y="1588619"/>
            <a:ext cx="2380655" cy="2380655"/>
          </a:xfrm>
          <a:prstGeom prst="ellipse">
            <a:avLst/>
          </a:prstGeom>
        </p:spPr>
      </p:pic>
      <p:sp>
        <p:nvSpPr>
          <p:cNvPr id="18" name="Object 12">
            <a:extLst>
              <a:ext uri="{FF2B5EF4-FFF2-40B4-BE49-F238E27FC236}">
                <a16:creationId xmlns:a16="http://schemas.microsoft.com/office/drawing/2014/main" id="{2743BBA7-18D1-BFA3-5926-F3A95D2C34DE}"/>
              </a:ext>
            </a:extLst>
          </p:cNvPr>
          <p:cNvSpPr/>
          <p:nvPr/>
        </p:nvSpPr>
        <p:spPr>
          <a:xfrm>
            <a:off x="5032456" y="1588619"/>
            <a:ext cx="2380655" cy="2380655"/>
          </a:xfrm>
          <a:prstGeom prst="ellipse">
            <a:avLst/>
          </a:prstGeom>
          <a:noFill/>
          <a:ln w="25400">
            <a:solidFill>
              <a:srgbClr val="041D39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" name="Object 2"/>
          <p:cNvSpPr/>
          <p:nvPr/>
        </p:nvSpPr>
        <p:spPr>
          <a:xfrm>
            <a:off x="4310321" y="631219"/>
            <a:ext cx="3777649" cy="4525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982"/>
              </a:lnSpc>
              <a:buNone/>
            </a:pPr>
            <a:r>
              <a:rPr lang="en-US" sz="3500" b="1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TEAM</a:t>
            </a:r>
            <a:endParaRPr lang="en-US" sz="3500" dirty="0">
              <a:solidFill>
                <a:srgbClr val="041D39"/>
              </a:solidFill>
            </a:endParaRPr>
          </a:p>
        </p:txBody>
      </p:sp>
      <p:pic>
        <p:nvPicPr>
          <p:cNvPr id="4" name="Object 3" descr="preencoded.png"/>
          <p:cNvPicPr>
            <a:picLocks noChangeAspect="1"/>
          </p:cNvPicPr>
          <p:nvPr/>
        </p:nvPicPr>
        <p:blipFill rotWithShape="1">
          <a:blip r:embed="rId5"/>
          <a:srcRect l="4098" t="13145" r="17806" b="8760"/>
          <a:stretch/>
        </p:blipFill>
        <p:spPr>
          <a:xfrm>
            <a:off x="1583678" y="1569347"/>
            <a:ext cx="2380655" cy="2380655"/>
          </a:xfrm>
          <a:prstGeom prst="ellipse">
            <a:avLst/>
          </a:prstGeom>
        </p:spPr>
      </p:pic>
      <p:sp>
        <p:nvSpPr>
          <p:cNvPr id="5" name="Object 4"/>
          <p:cNvSpPr/>
          <p:nvPr/>
        </p:nvSpPr>
        <p:spPr>
          <a:xfrm>
            <a:off x="1583678" y="1569347"/>
            <a:ext cx="2380655" cy="2380655"/>
          </a:xfrm>
          <a:prstGeom prst="ellipse">
            <a:avLst/>
          </a:prstGeom>
          <a:noFill/>
          <a:ln w="25400">
            <a:solidFill>
              <a:srgbClr val="041D39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6" name="Object 5"/>
          <p:cNvSpPr/>
          <p:nvPr/>
        </p:nvSpPr>
        <p:spPr>
          <a:xfrm>
            <a:off x="1237689" y="4079053"/>
            <a:ext cx="3072632" cy="29202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300"/>
              </a:lnSpc>
              <a:buNone/>
            </a:pPr>
            <a:r>
              <a:rPr lang="en-US" sz="2100" b="1" kern="0" spc="18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Eric Salim Marlie</a:t>
            </a:r>
            <a:endParaRPr lang="en-US" sz="2100" b="1" dirty="0">
              <a:solidFill>
                <a:srgbClr val="041D39"/>
              </a:solidFill>
            </a:endParaRPr>
          </a:p>
        </p:txBody>
      </p:sp>
      <p:sp>
        <p:nvSpPr>
          <p:cNvPr id="9" name="Object 8"/>
          <p:cNvSpPr/>
          <p:nvPr/>
        </p:nvSpPr>
        <p:spPr>
          <a:xfrm>
            <a:off x="5032457" y="1588619"/>
            <a:ext cx="2380655" cy="2380655"/>
          </a:xfrm>
          <a:prstGeom prst="ellipse">
            <a:avLst/>
          </a:prstGeom>
          <a:noFill/>
          <a:ln w="25400">
            <a:solidFill>
              <a:srgbClr val="041D39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3" name="Object 12"/>
          <p:cNvSpPr/>
          <p:nvPr/>
        </p:nvSpPr>
        <p:spPr>
          <a:xfrm>
            <a:off x="8274943" y="1569347"/>
            <a:ext cx="2380655" cy="2380655"/>
          </a:xfrm>
          <a:prstGeom prst="ellipse">
            <a:avLst/>
          </a:prstGeom>
          <a:noFill/>
          <a:ln w="25400">
            <a:solidFill>
              <a:srgbClr val="041D39"/>
            </a:solidFill>
            <a:prstDash val="solid"/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6" name="Object 15"/>
          <p:cNvSpPr/>
          <p:nvPr/>
        </p:nvSpPr>
        <p:spPr>
          <a:xfrm>
            <a:off x="11769957" y="6493335"/>
            <a:ext cx="228543" cy="24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ts val="1917"/>
              </a:lnSpc>
              <a:buNone/>
            </a:pPr>
            <a:r>
              <a:rPr lang="en-US" sz="1350" kern="0" spc="14" dirty="0">
                <a:solidFill>
                  <a:srgbClr val="000000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dirty="0"/>
          </a:p>
        </p:txBody>
      </p:sp>
      <p:pic>
        <p:nvPicPr>
          <p:cNvPr id="12" name="Object 1" descr="preencoded.png">
            <a:extLst>
              <a:ext uri="{FF2B5EF4-FFF2-40B4-BE49-F238E27FC236}">
                <a16:creationId xmlns:a16="http://schemas.microsoft.com/office/drawing/2014/main" id="{60CD1862-C3EE-BBC4-2593-B4DF94C2A8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0" y="5609771"/>
            <a:ext cx="1531257" cy="1531257"/>
          </a:xfrm>
          <a:prstGeom prst="rect">
            <a:avLst/>
          </a:prstGeom>
        </p:spPr>
      </p:pic>
      <p:sp>
        <p:nvSpPr>
          <p:cNvPr id="25" name="Object 6">
            <a:extLst>
              <a:ext uri="{FF2B5EF4-FFF2-40B4-BE49-F238E27FC236}">
                <a16:creationId xmlns:a16="http://schemas.microsoft.com/office/drawing/2014/main" id="{DBFE617A-9E5A-26DB-29EC-C85833B9191C}"/>
              </a:ext>
            </a:extLst>
          </p:cNvPr>
          <p:cNvSpPr/>
          <p:nvPr/>
        </p:nvSpPr>
        <p:spPr>
          <a:xfrm>
            <a:off x="1121137" y="4851432"/>
            <a:ext cx="3305736" cy="10636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spcBef>
                <a:spcPts val="443"/>
              </a:spcBef>
              <a:buNone/>
            </a:pPr>
            <a:r>
              <a:rPr lang="en-US" sz="1200" kern="0" spc="15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Three years experience growing an online basketball store in Indonesia, currently studying digital marketing at BMCC.</a:t>
            </a:r>
            <a:endParaRPr lang="en-US" sz="1200" dirty="0">
              <a:solidFill>
                <a:srgbClr val="041D39"/>
              </a:solidFill>
            </a:endParaRPr>
          </a:p>
        </p:txBody>
      </p:sp>
      <p:sp>
        <p:nvSpPr>
          <p:cNvPr id="26" name="Object 6">
            <a:extLst>
              <a:ext uri="{FF2B5EF4-FFF2-40B4-BE49-F238E27FC236}">
                <a16:creationId xmlns:a16="http://schemas.microsoft.com/office/drawing/2014/main" id="{BEE5DE2F-CD47-6883-B12A-EF81AD984B6B}"/>
              </a:ext>
            </a:extLst>
          </p:cNvPr>
          <p:cNvSpPr/>
          <p:nvPr/>
        </p:nvSpPr>
        <p:spPr>
          <a:xfrm>
            <a:off x="4777865" y="4851432"/>
            <a:ext cx="2937402" cy="7390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spcBef>
                <a:spcPts val="443"/>
              </a:spcBef>
              <a:buNone/>
            </a:pPr>
            <a:r>
              <a:rPr lang="en-US" sz="1200" kern="0" spc="15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 three years of experience in graphic design, currently pursuing </a:t>
            </a:r>
            <a:br>
              <a:rPr lang="en-US" sz="1200" kern="0" spc="15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1200" kern="0" spc="15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digital imaging degree at BMCC. </a:t>
            </a:r>
            <a:endParaRPr lang="en-US" sz="1200" dirty="0">
              <a:solidFill>
                <a:srgbClr val="041D39"/>
              </a:solidFill>
            </a:endParaRPr>
          </a:p>
        </p:txBody>
      </p:sp>
      <p:sp>
        <p:nvSpPr>
          <p:cNvPr id="27" name="Object 6">
            <a:extLst>
              <a:ext uri="{FF2B5EF4-FFF2-40B4-BE49-F238E27FC236}">
                <a16:creationId xmlns:a16="http://schemas.microsoft.com/office/drawing/2014/main" id="{841E87F7-22A7-A06A-9873-DEFE07E60E40}"/>
              </a:ext>
            </a:extLst>
          </p:cNvPr>
          <p:cNvSpPr/>
          <p:nvPr/>
        </p:nvSpPr>
        <p:spPr>
          <a:xfrm>
            <a:off x="8035132" y="4851431"/>
            <a:ext cx="2937402" cy="7390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spcBef>
                <a:spcPts val="443"/>
              </a:spcBef>
              <a:buNone/>
            </a:pPr>
            <a:r>
              <a:rPr lang="en-US" sz="1200" kern="0" spc="15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CPA with extensive experience in finance, startups, and venture capital.</a:t>
            </a:r>
            <a:endParaRPr lang="en-US" sz="1200" dirty="0">
              <a:solidFill>
                <a:srgbClr val="041D39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B69B54-C65A-05BD-32D0-A9C510D6CF93}"/>
              </a:ext>
            </a:extLst>
          </p:cNvPr>
          <p:cNvCxnSpPr>
            <a:cxnSpLocks/>
          </p:cNvCxnSpPr>
          <p:nvPr/>
        </p:nvCxnSpPr>
        <p:spPr>
          <a:xfrm flipV="1">
            <a:off x="6094476" y="1756008"/>
            <a:ext cx="1524" cy="1925984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Object 1" descr="preencoded.png">
            <a:extLst>
              <a:ext uri="{FF2B5EF4-FFF2-40B4-BE49-F238E27FC236}">
                <a16:creationId xmlns:a16="http://schemas.microsoft.com/office/drawing/2014/main" id="{D0B8245B-3657-E412-95C7-2412823424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822478" y="1518328"/>
            <a:ext cx="2538215" cy="2538215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9F0E8D3-A1F2-F865-DE4A-0D6CCE87B299}"/>
              </a:ext>
            </a:extLst>
          </p:cNvPr>
          <p:cNvCxnSpPr>
            <a:cxnSpLocks/>
          </p:cNvCxnSpPr>
          <p:nvPr/>
        </p:nvCxnSpPr>
        <p:spPr>
          <a:xfrm flipV="1">
            <a:off x="6094476" y="3681992"/>
            <a:ext cx="0" cy="1998546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Object 17">
            <a:extLst>
              <a:ext uri="{FF2B5EF4-FFF2-40B4-BE49-F238E27FC236}">
                <a16:creationId xmlns:a16="http://schemas.microsoft.com/office/drawing/2014/main" id="{22EC4E0B-FFD7-865D-84B1-363C4469A05E}"/>
              </a:ext>
            </a:extLst>
          </p:cNvPr>
          <p:cNvSpPr/>
          <p:nvPr/>
        </p:nvSpPr>
        <p:spPr>
          <a:xfrm>
            <a:off x="11722101" y="6493335"/>
            <a:ext cx="276400" cy="24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ts val="1917"/>
              </a:lnSpc>
              <a:buNone/>
            </a:pPr>
            <a:r>
              <a:rPr lang="en-US" sz="1350" kern="0" spc="14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dirty="0">
              <a:solidFill>
                <a:srgbClr val="041D39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0024E-1093-BD59-F5D3-4EA6205BFB11}"/>
              </a:ext>
            </a:extLst>
          </p:cNvPr>
          <p:cNvSpPr/>
          <p:nvPr/>
        </p:nvSpPr>
        <p:spPr>
          <a:xfrm>
            <a:off x="0" y="0"/>
            <a:ext cx="12192000" cy="1122952"/>
          </a:xfrm>
          <a:prstGeom prst="rect">
            <a:avLst/>
          </a:prstGeom>
          <a:solidFill>
            <a:srgbClr val="041D39"/>
          </a:solidFill>
          <a:ln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bject 1">
            <a:extLst>
              <a:ext uri="{FF2B5EF4-FFF2-40B4-BE49-F238E27FC236}">
                <a16:creationId xmlns:a16="http://schemas.microsoft.com/office/drawing/2014/main" id="{D52982CE-7C55-7A0A-6B4D-7B1ACD5B674C}"/>
              </a:ext>
            </a:extLst>
          </p:cNvPr>
          <p:cNvSpPr/>
          <p:nvPr/>
        </p:nvSpPr>
        <p:spPr>
          <a:xfrm>
            <a:off x="-1" y="189406"/>
            <a:ext cx="12188952" cy="540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4260"/>
              </a:lnSpc>
              <a:buNone/>
            </a:pPr>
            <a:r>
              <a:rPr lang="en-US" sz="3750" b="1" dirty="0">
                <a:ln>
                  <a:solidFill>
                    <a:srgbClr val="C1EDF4"/>
                  </a:solidFill>
                </a:ln>
                <a:solidFill>
                  <a:srgbClr val="C1EDF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COMPETITION</a:t>
            </a:r>
            <a:endParaRPr lang="en-US" dirty="0">
              <a:ln>
                <a:solidFill>
                  <a:srgbClr val="C1EDF4"/>
                </a:solidFill>
              </a:ln>
              <a:solidFill>
                <a:srgbClr val="C1EDF4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E20AAE-C219-8AEA-E5F1-158B5930E960}"/>
              </a:ext>
            </a:extLst>
          </p:cNvPr>
          <p:cNvCxnSpPr>
            <a:cxnSpLocks/>
          </p:cNvCxnSpPr>
          <p:nvPr/>
        </p:nvCxnSpPr>
        <p:spPr>
          <a:xfrm>
            <a:off x="1866900" y="3692758"/>
            <a:ext cx="8737600" cy="0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ABBC12-0D8F-B294-07A6-B0E2CA3CD342}"/>
              </a:ext>
            </a:extLst>
          </p:cNvPr>
          <p:cNvSpPr/>
          <p:nvPr/>
        </p:nvSpPr>
        <p:spPr>
          <a:xfrm>
            <a:off x="698500" y="3359615"/>
            <a:ext cx="1397000" cy="644757"/>
          </a:xfrm>
          <a:prstGeom prst="roundRect">
            <a:avLst/>
          </a:prstGeom>
          <a:solidFill>
            <a:srgbClr val="C1EDF4"/>
          </a:solidFill>
          <a:ln w="57150"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41D39"/>
                </a:solidFill>
              </a:rPr>
              <a:t>OFFLINE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2A136A6-1A65-4AFB-F72A-C7BFACE4C1E2}"/>
              </a:ext>
            </a:extLst>
          </p:cNvPr>
          <p:cNvSpPr/>
          <p:nvPr/>
        </p:nvSpPr>
        <p:spPr>
          <a:xfrm>
            <a:off x="9906000" y="3359614"/>
            <a:ext cx="1397000" cy="644757"/>
          </a:xfrm>
          <a:prstGeom prst="roundRect">
            <a:avLst/>
          </a:prstGeom>
          <a:solidFill>
            <a:srgbClr val="C1EDF4"/>
          </a:solidFill>
          <a:ln w="57150"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41D39"/>
                </a:solidFill>
              </a:rPr>
              <a:t>ONLINE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A57934D-69AF-1345-B3AC-43CF6E5DA33C}"/>
              </a:ext>
            </a:extLst>
          </p:cNvPr>
          <p:cNvSpPr/>
          <p:nvPr/>
        </p:nvSpPr>
        <p:spPr>
          <a:xfrm>
            <a:off x="5144262" y="1450682"/>
            <a:ext cx="1903476" cy="644757"/>
          </a:xfrm>
          <a:prstGeom prst="roundRect">
            <a:avLst/>
          </a:prstGeom>
          <a:solidFill>
            <a:srgbClr val="C1EDF4"/>
          </a:solidFill>
          <a:ln w="57150"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41D39"/>
                </a:solidFill>
              </a:rPr>
              <a:t>CONVENIENT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F2CE3EC-5184-110B-C347-ED877251082C}"/>
              </a:ext>
            </a:extLst>
          </p:cNvPr>
          <p:cNvSpPr/>
          <p:nvPr/>
        </p:nvSpPr>
        <p:spPr>
          <a:xfrm>
            <a:off x="5142738" y="5702239"/>
            <a:ext cx="1903476" cy="644757"/>
          </a:xfrm>
          <a:prstGeom prst="roundRect">
            <a:avLst/>
          </a:prstGeom>
          <a:solidFill>
            <a:srgbClr val="C1EDF4"/>
          </a:solidFill>
          <a:ln w="57150">
            <a:solidFill>
              <a:srgbClr val="041D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41D39"/>
                </a:solidFill>
              </a:rPr>
              <a:t>LESS</a:t>
            </a:r>
            <a:br>
              <a:rPr lang="en-US" b="1" dirty="0">
                <a:solidFill>
                  <a:srgbClr val="041D39"/>
                </a:solidFill>
              </a:rPr>
            </a:br>
            <a:r>
              <a:rPr lang="en-US" b="1" dirty="0">
                <a:solidFill>
                  <a:srgbClr val="041D39"/>
                </a:solidFill>
              </a:rPr>
              <a:t>CONVENIENT</a:t>
            </a:r>
          </a:p>
        </p:txBody>
      </p:sp>
      <p:sp>
        <p:nvSpPr>
          <p:cNvPr id="17" name="Object 19">
            <a:extLst>
              <a:ext uri="{FF2B5EF4-FFF2-40B4-BE49-F238E27FC236}">
                <a16:creationId xmlns:a16="http://schemas.microsoft.com/office/drawing/2014/main" id="{F03C9373-B053-4674-A7EC-0A99A5E76DF2}"/>
              </a:ext>
            </a:extLst>
          </p:cNvPr>
          <p:cNvSpPr/>
          <p:nvPr/>
        </p:nvSpPr>
        <p:spPr>
          <a:xfrm>
            <a:off x="2282953" y="4371890"/>
            <a:ext cx="2890512" cy="4322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531"/>
              </a:lnSpc>
              <a:buNone/>
            </a:pPr>
            <a:r>
              <a:rPr lang="en-US" sz="2200" b="1" kern="0" spc="20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MORE THAN 400</a:t>
            </a:r>
            <a:endParaRPr lang="en-US" sz="2200" b="1" dirty="0">
              <a:solidFill>
                <a:srgbClr val="041D39"/>
              </a:solidFill>
            </a:endParaRPr>
          </a:p>
        </p:txBody>
      </p:sp>
      <p:sp>
        <p:nvSpPr>
          <p:cNvPr id="18" name="Object 19">
            <a:extLst>
              <a:ext uri="{FF2B5EF4-FFF2-40B4-BE49-F238E27FC236}">
                <a16:creationId xmlns:a16="http://schemas.microsoft.com/office/drawing/2014/main" id="{9D1703B9-115C-9892-75DD-2BCBF5259471}"/>
              </a:ext>
            </a:extLst>
          </p:cNvPr>
          <p:cNvSpPr/>
          <p:nvPr/>
        </p:nvSpPr>
        <p:spPr>
          <a:xfrm>
            <a:off x="2282953" y="4695252"/>
            <a:ext cx="2890512" cy="8682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ctr">
              <a:lnSpc>
                <a:spcPts val="2531"/>
              </a:lnSpc>
              <a:buNone/>
            </a:pPr>
            <a:r>
              <a:rPr lang="en-US" sz="2000" kern="0" spc="20" dirty="0">
                <a:solidFill>
                  <a:srgbClr val="041D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Shoe cleaning stores across NYC</a:t>
            </a:r>
            <a:endParaRPr lang="en-US" sz="2000" dirty="0">
              <a:solidFill>
                <a:srgbClr val="041D39"/>
              </a:solidFill>
            </a:endParaRPr>
          </a:p>
        </p:txBody>
      </p:sp>
      <p:pic>
        <p:nvPicPr>
          <p:cNvPr id="25" name="Picture 24" descr="Icon&#10;&#10;Description automatically generated">
            <a:extLst>
              <a:ext uri="{FF2B5EF4-FFF2-40B4-BE49-F238E27FC236}">
                <a16:creationId xmlns:a16="http://schemas.microsoft.com/office/drawing/2014/main" id="{29536240-97DF-14B8-33B3-7973365DE2A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36" t="24580" r="22435" b="26512"/>
          <a:stretch/>
        </p:blipFill>
        <p:spPr>
          <a:xfrm flipH="1">
            <a:off x="7166922" y="2479082"/>
            <a:ext cx="238201" cy="229206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F3C5896-6EDC-D732-8587-4BCBF4C70948}"/>
              </a:ext>
            </a:extLst>
          </p:cNvPr>
          <p:cNvSpPr txBox="1"/>
          <p:nvPr/>
        </p:nvSpPr>
        <p:spPr>
          <a:xfrm>
            <a:off x="7360693" y="2442685"/>
            <a:ext cx="23631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600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COMPETITIVE PRICING</a:t>
            </a:r>
          </a:p>
        </p:txBody>
      </p:sp>
      <p:pic>
        <p:nvPicPr>
          <p:cNvPr id="27" name="Picture 26" descr="Icon&#10;&#10;Description automatically generated">
            <a:extLst>
              <a:ext uri="{FF2B5EF4-FFF2-40B4-BE49-F238E27FC236}">
                <a16:creationId xmlns:a16="http://schemas.microsoft.com/office/drawing/2014/main" id="{B911C395-FDC0-EC69-57BD-9097464DEC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36" t="24580" r="22435" b="26512"/>
          <a:stretch/>
        </p:blipFill>
        <p:spPr>
          <a:xfrm flipH="1">
            <a:off x="7166922" y="2727808"/>
            <a:ext cx="238201" cy="22920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6E31AE27-89E3-B91A-FCF1-4D366224B7D9}"/>
              </a:ext>
            </a:extLst>
          </p:cNvPr>
          <p:cNvSpPr txBox="1"/>
          <p:nvPr/>
        </p:nvSpPr>
        <p:spPr>
          <a:xfrm>
            <a:off x="7360693" y="2691411"/>
            <a:ext cx="34259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600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SIMPLE AND SEAMLESS PROCESS</a:t>
            </a:r>
          </a:p>
        </p:txBody>
      </p:sp>
      <p:pic>
        <p:nvPicPr>
          <p:cNvPr id="29" name="Picture 28" descr="Icon&#10;&#10;Description automatically generated">
            <a:extLst>
              <a:ext uri="{FF2B5EF4-FFF2-40B4-BE49-F238E27FC236}">
                <a16:creationId xmlns:a16="http://schemas.microsoft.com/office/drawing/2014/main" id="{AF0392FE-EB38-6222-C08F-16CBC84BF6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36" t="24580" r="22435" b="26512"/>
          <a:stretch/>
        </p:blipFill>
        <p:spPr>
          <a:xfrm flipH="1">
            <a:off x="7166922" y="2243656"/>
            <a:ext cx="238201" cy="22920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A660B57-E1D1-007A-93BC-FFBCBCE1C539}"/>
              </a:ext>
            </a:extLst>
          </p:cNvPr>
          <p:cNvSpPr txBox="1"/>
          <p:nvPr/>
        </p:nvSpPr>
        <p:spPr>
          <a:xfrm>
            <a:off x="7360693" y="2207259"/>
            <a:ext cx="46378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600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CONVENIENT DROPOFF AND PICKUP SERVICES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E3A036-0177-39A3-310E-E4A1307315A9}"/>
              </a:ext>
            </a:extLst>
          </p:cNvPr>
          <p:cNvSpPr txBox="1"/>
          <p:nvPr/>
        </p:nvSpPr>
        <p:spPr>
          <a:xfrm>
            <a:off x="4144985" y="629526"/>
            <a:ext cx="390203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00" dirty="0">
                <a:solidFill>
                  <a:srgbClr val="C1EDF4"/>
                </a:solidFill>
              </a:rPr>
              <a:t>Our Unique Perspective on the Market</a:t>
            </a:r>
          </a:p>
        </p:txBody>
      </p:sp>
      <p:pic>
        <p:nvPicPr>
          <p:cNvPr id="11" name="Object 1" descr="preencoded.png">
            <a:extLst>
              <a:ext uri="{FF2B5EF4-FFF2-40B4-BE49-F238E27FC236}">
                <a16:creationId xmlns:a16="http://schemas.microsoft.com/office/drawing/2014/main" id="{6671176C-8C32-E612-D81D-08E44980E2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5609771"/>
            <a:ext cx="1531257" cy="1531257"/>
          </a:xfrm>
          <a:prstGeom prst="rect">
            <a:avLst/>
          </a:prstGeom>
        </p:spPr>
      </p:pic>
      <p:pic>
        <p:nvPicPr>
          <p:cNvPr id="7" name="Picture 2" descr="The Beginning | Reshoevn8r Rebrand Documentary | Episode 1">
            <a:extLst>
              <a:ext uri="{FF2B5EF4-FFF2-40B4-BE49-F238E27FC236}">
                <a16:creationId xmlns:a16="http://schemas.microsoft.com/office/drawing/2014/main" id="{5504033D-7BB5-3CB5-C436-1F09F44950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25" r="31250"/>
          <a:stretch/>
        </p:blipFill>
        <p:spPr bwMode="auto">
          <a:xfrm>
            <a:off x="7117538" y="4183887"/>
            <a:ext cx="642532" cy="60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Crep Protect – Shoe Village">
            <a:extLst>
              <a:ext uri="{FF2B5EF4-FFF2-40B4-BE49-F238E27FC236}">
                <a16:creationId xmlns:a16="http://schemas.microsoft.com/office/drawing/2014/main" id="{118B4F08-6DF3-6470-6FEC-170EB466AC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34" r="10592"/>
          <a:stretch/>
        </p:blipFill>
        <p:spPr bwMode="auto">
          <a:xfrm>
            <a:off x="7826802" y="4183761"/>
            <a:ext cx="790146" cy="60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Shoe MGK | CoolSprings Galleria">
            <a:extLst>
              <a:ext uri="{FF2B5EF4-FFF2-40B4-BE49-F238E27FC236}">
                <a16:creationId xmlns:a16="http://schemas.microsoft.com/office/drawing/2014/main" id="{64A3D1EA-25CE-0BC5-3686-AA17F8EA3B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1750" y="4186378"/>
            <a:ext cx="602738" cy="602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8" descr="Jason Markk – Jason Markk UK">
            <a:extLst>
              <a:ext uri="{FF2B5EF4-FFF2-40B4-BE49-F238E27FC236}">
                <a16:creationId xmlns:a16="http://schemas.microsoft.com/office/drawing/2014/main" id="{96BB7D8D-6028-CC73-D4D5-9B2A55FBF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759" y="4852906"/>
            <a:ext cx="979256" cy="51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Collonil EN">
            <a:extLst>
              <a:ext uri="{FF2B5EF4-FFF2-40B4-BE49-F238E27FC236}">
                <a16:creationId xmlns:a16="http://schemas.microsoft.com/office/drawing/2014/main" id="{EAE9DFDA-5698-DB9E-7044-EFE25ECDB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4953" y="4863387"/>
            <a:ext cx="495646" cy="495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2" descr="Angelus Brand - YouTube">
            <a:extLst>
              <a:ext uri="{FF2B5EF4-FFF2-40B4-BE49-F238E27FC236}">
                <a16:creationId xmlns:a16="http://schemas.microsoft.com/office/drawing/2014/main" id="{702DB466-B186-9C40-6198-2017C0E9A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9050" y="4859380"/>
            <a:ext cx="512477" cy="51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DB7493A-E4A9-A0A5-C9A4-411291849411}"/>
              </a:ext>
            </a:extLst>
          </p:cNvPr>
          <p:cNvSpPr txBox="1"/>
          <p:nvPr/>
        </p:nvSpPr>
        <p:spPr>
          <a:xfrm>
            <a:off x="2421602" y="5394240"/>
            <a:ext cx="2007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400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*AVERAGE PRICE $30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D41D2C-45A8-8D5C-9DB1-AC20DC9A18A8}"/>
              </a:ext>
            </a:extLst>
          </p:cNvPr>
          <p:cNvSpPr txBox="1"/>
          <p:nvPr/>
        </p:nvSpPr>
        <p:spPr>
          <a:xfrm>
            <a:off x="6995838" y="5409628"/>
            <a:ext cx="2007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120"/>
              </a:spcAft>
            </a:pPr>
            <a:r>
              <a:rPr lang="en-US" sz="1400" b="1" dirty="0">
                <a:solidFill>
                  <a:srgbClr val="041D39"/>
                </a:solidFill>
                <a:latin typeface="Roboto Regular"/>
                <a:ea typeface="Roboto" panose="02000000000000000000" pitchFamily="2" charset="0"/>
                <a:cs typeface="Roboto" panose="02000000000000000000" pitchFamily="2" charset="0"/>
              </a:rPr>
              <a:t>*AVERAGE PRICE $50 </a:t>
            </a:r>
          </a:p>
        </p:txBody>
      </p:sp>
    </p:spTree>
    <p:extLst>
      <p:ext uri="{BB962C8B-B14F-4D97-AF65-F5344CB8AC3E}">
        <p14:creationId xmlns:p14="http://schemas.microsoft.com/office/powerpoint/2010/main" val="2346862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5" grpId="0" animBg="1"/>
      <p:bldP spid="16" grpId="0" animBg="1"/>
      <p:bldP spid="17" grpId="0"/>
      <p:bldP spid="18" grpId="0"/>
      <p:bldP spid="26" grpId="0"/>
      <p:bldP spid="28" grpId="0"/>
      <p:bldP spid="30" grpId="0"/>
      <p:bldP spid="6" grpId="0"/>
      <p:bldP spid="13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quid Game' Has Increased Sales Of White Vans By 7,800%">
            <a:extLst>
              <a:ext uri="{FF2B5EF4-FFF2-40B4-BE49-F238E27FC236}">
                <a16:creationId xmlns:a16="http://schemas.microsoft.com/office/drawing/2014/main" id="{48F4917C-78EF-7A01-85CA-680092FF82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61" r="8907"/>
          <a:stretch/>
        </p:blipFill>
        <p:spPr bwMode="auto">
          <a:xfrm>
            <a:off x="7995387" y="-2545"/>
            <a:ext cx="419661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A965264-9554-2A49-BF0B-D63530C1A32D}"/>
              </a:ext>
            </a:extLst>
          </p:cNvPr>
          <p:cNvSpPr/>
          <p:nvPr/>
        </p:nvSpPr>
        <p:spPr>
          <a:xfrm>
            <a:off x="7995388" y="2583417"/>
            <a:ext cx="4196615" cy="1686076"/>
          </a:xfrm>
          <a:prstGeom prst="rect">
            <a:avLst/>
          </a:prstGeom>
          <a:solidFill>
            <a:srgbClr val="C1EDF4"/>
          </a:solidFill>
          <a:ln>
            <a:solidFill>
              <a:srgbClr val="C1E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Graphic 27" descr="Address Book with solid fill">
            <a:extLst>
              <a:ext uri="{FF2B5EF4-FFF2-40B4-BE49-F238E27FC236}">
                <a16:creationId xmlns:a16="http://schemas.microsoft.com/office/drawing/2014/main" id="{A4A507EA-B907-4515-1A4A-871EFCF21E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7122" y="2992255"/>
            <a:ext cx="277444" cy="27744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CCCF257-8A33-DEE1-4AAB-1FADFEED1C27}"/>
              </a:ext>
            </a:extLst>
          </p:cNvPr>
          <p:cNvSpPr/>
          <p:nvPr/>
        </p:nvSpPr>
        <p:spPr>
          <a:xfrm>
            <a:off x="-1" y="2623457"/>
            <a:ext cx="4196615" cy="1611086"/>
          </a:xfrm>
          <a:prstGeom prst="rect">
            <a:avLst/>
          </a:prstGeom>
          <a:solidFill>
            <a:srgbClr val="C1EDF4"/>
          </a:solidFill>
          <a:ln>
            <a:solidFill>
              <a:srgbClr val="C1EDF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bject 2"/>
          <p:cNvSpPr/>
          <p:nvPr/>
        </p:nvSpPr>
        <p:spPr>
          <a:xfrm>
            <a:off x="11769957" y="6493335"/>
            <a:ext cx="228543" cy="2433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r">
              <a:lnSpc>
                <a:spcPts val="1917"/>
              </a:lnSpc>
              <a:buNone/>
            </a:pPr>
            <a:r>
              <a:rPr lang="en-US" sz="1350" kern="0" spc="14" dirty="0">
                <a:solidFill>
                  <a:srgbClr val="000000">
                    <a:alpha val="80000"/>
                  </a:srgbClr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12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193C28-6EC8-90F7-5FDE-A8EEEA52B810}"/>
              </a:ext>
            </a:extLst>
          </p:cNvPr>
          <p:cNvSpPr txBox="1"/>
          <p:nvPr/>
        </p:nvSpPr>
        <p:spPr>
          <a:xfrm flipH="1">
            <a:off x="291154" y="409364"/>
            <a:ext cx="7591051" cy="5093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500" b="1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JOIN US IN REVOLUTIONIZING THE WAY NEW YORKERS CLEAN THEIR SHOES</a:t>
            </a:r>
          </a:p>
        </p:txBody>
      </p:sp>
      <p:pic>
        <p:nvPicPr>
          <p:cNvPr id="12" name="Object 1" descr="preencoded.png">
            <a:extLst>
              <a:ext uri="{FF2B5EF4-FFF2-40B4-BE49-F238E27FC236}">
                <a16:creationId xmlns:a16="http://schemas.microsoft.com/office/drawing/2014/main" id="{A69EE59F-1231-55AB-3C3D-F719A30294A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0" y="5609771"/>
            <a:ext cx="1531257" cy="153125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7D8D50A-5045-38C7-19D9-BAC795194479}"/>
              </a:ext>
            </a:extLst>
          </p:cNvPr>
          <p:cNvSpPr txBox="1"/>
          <p:nvPr/>
        </p:nvSpPr>
        <p:spPr>
          <a:xfrm flipH="1">
            <a:off x="8065060" y="2641807"/>
            <a:ext cx="450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41D39"/>
                </a:solidFill>
              </a:rPr>
              <a:t>CONTACT 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48E403-BB90-E7B0-3C32-38E8379AC3AC}"/>
              </a:ext>
            </a:extLst>
          </p:cNvPr>
          <p:cNvSpPr txBox="1"/>
          <p:nvPr/>
        </p:nvSpPr>
        <p:spPr>
          <a:xfrm flipH="1">
            <a:off x="8346637" y="2938304"/>
            <a:ext cx="3730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Eric Salim Marlie</a:t>
            </a:r>
            <a:br>
              <a:rPr lang="en-US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eriicsalim@yahoo.com</a:t>
            </a:r>
            <a:br>
              <a:rPr lang="en-US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917-684-2578</a:t>
            </a:r>
            <a:br>
              <a:rPr lang="en-US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u="sng" dirty="0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linkedin.com/in/</a:t>
            </a:r>
            <a:r>
              <a:rPr lang="en-US" u="sng" dirty="0" err="1">
                <a:solidFill>
                  <a:srgbClr val="041D3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ericsalimm</a:t>
            </a:r>
            <a:endParaRPr lang="en-US" dirty="0">
              <a:solidFill>
                <a:srgbClr val="041D3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9" name="Picture 18" descr="Qr code&#10;&#10;Description automatically generated">
            <a:extLst>
              <a:ext uri="{FF2B5EF4-FFF2-40B4-BE49-F238E27FC236}">
                <a16:creationId xmlns:a16="http://schemas.microsoft.com/office/drawing/2014/main" id="{C4590A5D-26F9-99CA-F03D-B27ADC95A0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65978" y="5498971"/>
            <a:ext cx="1216228" cy="157440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8EE3163-EAF8-4933-EAD3-FA079DC9D9B4}"/>
              </a:ext>
            </a:extLst>
          </p:cNvPr>
          <p:cNvSpPr txBox="1"/>
          <p:nvPr/>
        </p:nvSpPr>
        <p:spPr>
          <a:xfrm>
            <a:off x="6449263" y="5439363"/>
            <a:ext cx="15461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Quick Access Contact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7769D6-2C7C-66CF-D8A6-EAF65C80582A}"/>
              </a:ext>
            </a:extLst>
          </p:cNvPr>
          <p:cNvCxnSpPr/>
          <p:nvPr/>
        </p:nvCxnSpPr>
        <p:spPr>
          <a:xfrm>
            <a:off x="409206" y="5395915"/>
            <a:ext cx="2070100" cy="0"/>
          </a:xfrm>
          <a:prstGeom prst="line">
            <a:avLst/>
          </a:prstGeom>
          <a:ln w="57150">
            <a:solidFill>
              <a:srgbClr val="041D3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Receiver with solid fill">
            <a:extLst>
              <a:ext uri="{FF2B5EF4-FFF2-40B4-BE49-F238E27FC236}">
                <a16:creationId xmlns:a16="http://schemas.microsoft.com/office/drawing/2014/main" id="{B6890738-129B-2DB5-B391-351B6EE303E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64988" y="3557054"/>
            <a:ext cx="212541" cy="212541"/>
          </a:xfrm>
          <a:prstGeom prst="rect">
            <a:avLst/>
          </a:prstGeom>
        </p:spPr>
      </p:pic>
      <p:pic>
        <p:nvPicPr>
          <p:cNvPr id="26" name="Graphic 25" descr="Envelope with solid fill">
            <a:extLst>
              <a:ext uri="{FF2B5EF4-FFF2-40B4-BE49-F238E27FC236}">
                <a16:creationId xmlns:a16="http://schemas.microsoft.com/office/drawing/2014/main" id="{D3A5B34F-4216-0BAD-1BEC-5F194DCB07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54159" y="3307620"/>
            <a:ext cx="223370" cy="223370"/>
          </a:xfrm>
          <a:prstGeom prst="rect">
            <a:avLst/>
          </a:prstGeom>
        </p:spPr>
      </p:pic>
      <p:pic>
        <p:nvPicPr>
          <p:cNvPr id="30" name="Picture 29" descr="A blue and white sign&#10;&#10;Description automatically generated with low confidence">
            <a:extLst>
              <a:ext uri="{FF2B5EF4-FFF2-40B4-BE49-F238E27FC236}">
                <a16:creationId xmlns:a16="http://schemas.microsoft.com/office/drawing/2014/main" id="{AE59BEF4-01F1-A06B-7266-92EC09D053E4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26002" t="27247" r="27644" b="28014"/>
          <a:stretch/>
        </p:blipFill>
        <p:spPr>
          <a:xfrm>
            <a:off x="8162653" y="3849274"/>
            <a:ext cx="214876" cy="20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43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457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</vt:lpstr>
      <vt:lpstr>Roboto Regular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Beautiful.ai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CLEAN N KICK Pitch</dc:title>
  <dc:subject>CLEAN N KICK Pitch</dc:subject>
  <dc:creator>ericsalim55@yahoo.com</dc:creator>
  <cp:lastModifiedBy>Eric Salim</cp:lastModifiedBy>
  <cp:revision>16</cp:revision>
  <dcterms:created xsi:type="dcterms:W3CDTF">2023-04-28T00:46:23Z</dcterms:created>
  <dcterms:modified xsi:type="dcterms:W3CDTF">2023-10-25T12:07:02Z</dcterms:modified>
</cp:coreProperties>
</file>